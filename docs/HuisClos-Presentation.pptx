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B2430"/>
                </a:solidFill>
                <a:latin typeface="Calibri"/>
              </a:rPr>
              <a:t>Fully covered entities, out of 190</a:t>
            </a:r>
          </a:p>
        </c:rich>
      </c:tx>
      <c:layout/>
      <c:overlay val="0"/>
    </c:title>
    <c:autoTitleDeleted val="0"/>
    <c:plotArea>
      <c:barChart>
        <c:barDir val="bar"/>
        <c:grouping val="clustered"/>
        <c:ser>
          <c:idx val="0"/>
          <c:order val="0"/>
          <c:tx>
            <c:strRef>
              <c:f>Sheet1!$B$1</c:f>
              <c:strCache>
                <c:ptCount val="1"/>
                <c:pt idx="0">
                  <c:v>Fully covered entities, out of 190</c:v>
                </c:pt>
              </c:strCache>
            </c:strRef>
          </c:tx>
          <c:dPt>
            <c:idx val="0"/>
            <c:spPr>
              <a:solidFill>
                <a:srgbClr val="0E7490"/>
              </a:solidFill>
            </c:spPr>
          </c:dPt>
          <c:dPt>
            <c:idx val="1"/>
            <c:spPr>
              <a:solidFill>
                <a:srgbClr val="1F3A5F"/>
              </a:solidFill>
            </c:spPr>
          </c:dPt>
          <c:cat>
            <c:strRef>
              <c:f>Sheet1!$A$2:$A$3</c:f>
              <c:strCache>
                <c:ptCount val="2"/>
                <c:pt idx="0">
                  <c:v>Enhanced</c:v>
                </c:pt>
                <c:pt idx="1">
                  <c:v>Standard</c:v>
                </c:pt>
              </c:strCache>
            </c:strRef>
          </c:cat>
          <c:val>
            <c:numRef>
              <c:f>Sheet1!$B$2:$B$3</c:f>
              <c:numCache>
                <c:formatCode>General</c:formatCode>
                <c:ptCount val="2"/>
                <c:pt idx="0">
                  <c:v>170</c:v>
                </c:pt>
                <c:pt idx="1">
                  <c:v>157</c:v>
                </c:pt>
              </c:numCache>
            </c:numRef>
          </c:val>
        </c:ser>
        <c:dLbls>
          <c:numFmt formatCode="0" sourceLinked="0"/>
          <c:txPr>
            <a:bodyPr/>
            <a:lstStyle/>
            <a:p>
              <a:pPr>
                <a:defRPr sz="1400" b="1">
                  <a:solidFill>
                    <a:srgbClr val="1B243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9D0D9"/>
            </a:solidFill>
          </a:ln>
        </c:spPr>
        <c:txPr>
          <a:bodyPr/>
          <a:lstStyle/>
          <a:p>
            <a:pPr>
              <a:defRPr sz="1300">
                <a:solidFill>
                  <a:srgbClr val="1B2430"/>
                </a:solidFill>
                <a:latin typeface="Calibri"/>
              </a:defRPr>
            </a:pPr>
          </a:p>
        </c:txPr>
        <c:crossAx val="-2113994440"/>
        <c:crosses val="autoZero"/>
        <c:auto val="1"/>
        <c:lblAlgn val="ctr"/>
        <c:lblOffset val="100"/>
        <c:noMultiLvlLbl val="0"/>
      </c:catAx>
      <c:valAx>
        <c:axId val="-2113994440"/>
        <c:scaling>
          <c:max val="190.0"/>
          <c:min val="0.0"/>
        </c:scaling>
        <c:delete val="0"/>
        <c:axPos val="b"/>
        <c:majorGridlines>
          <c:spPr>
            <a:ln>
              <a:solidFill>
                <a:srgbClr val="E3E7EC"/>
              </a:solidFill>
            </a:ln>
          </c:spPr>
        </c:majorGridlines>
        <c:majorTickMark val="out"/>
        <c:minorTickMark val="none"/>
        <c:tickLblPos val="nextTo"/>
        <c:spPr>
          <a:ln>
            <a:noFill/>
          </a:ln>
        </c:spPr>
        <c:txPr>
          <a:bodyPr/>
          <a:lstStyle/>
          <a:p>
            <a:pPr>
              <a:defRPr sz="1100">
                <a:solidFill>
                  <a:srgbClr val="5B6675"/>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B2430"/>
                </a:solidFill>
                <a:latin typeface="Calibri"/>
              </a:rPr>
              <a:t>Leaked characters, out of 3,600</a:t>
            </a:r>
          </a:p>
        </c:rich>
      </c:tx>
      <c:layout/>
      <c:overlay val="0"/>
    </c:title>
    <c:autoTitleDeleted val="0"/>
    <c:plotArea>
      <c:barChart>
        <c:barDir val="bar"/>
        <c:grouping val="clustered"/>
        <c:ser>
          <c:idx val="0"/>
          <c:order val="0"/>
          <c:tx>
            <c:strRef>
              <c:f>Sheet1!$B$1</c:f>
              <c:strCache>
                <c:ptCount val="1"/>
                <c:pt idx="0">
                  <c:v>Leaked characters, out of 3,600</c:v>
                </c:pt>
              </c:strCache>
            </c:strRef>
          </c:tx>
          <c:dPt>
            <c:idx val="0"/>
            <c:spPr>
              <a:solidFill>
                <a:srgbClr val="0E7490"/>
              </a:solidFill>
            </c:spPr>
          </c:dPt>
          <c:dPt>
            <c:idx val="1"/>
            <c:spPr>
              <a:solidFill>
                <a:srgbClr val="1F3A5F"/>
              </a:solidFill>
            </c:spPr>
          </c:dPt>
          <c:cat>
            <c:strRef>
              <c:f>Sheet1!$A$2:$A$3</c:f>
              <c:strCache>
                <c:ptCount val="2"/>
                <c:pt idx="0">
                  <c:v>Enhanced</c:v>
                </c:pt>
                <c:pt idx="1">
                  <c:v>Standard</c:v>
                </c:pt>
              </c:strCache>
            </c:strRef>
          </c:cat>
          <c:val>
            <c:numRef>
              <c:f>Sheet1!$B$2:$B$3</c:f>
              <c:numCache>
                <c:formatCode>General</c:formatCode>
                <c:ptCount val="2"/>
                <c:pt idx="0">
                  <c:v>218</c:v>
                </c:pt>
                <c:pt idx="1">
                  <c:v>325</c:v>
                </c:pt>
              </c:numCache>
            </c:numRef>
          </c:val>
        </c:ser>
        <c:dLbls>
          <c:numFmt formatCode="0" sourceLinked="0"/>
          <c:txPr>
            <a:bodyPr/>
            <a:lstStyle/>
            <a:p>
              <a:pPr>
                <a:defRPr sz="1400" b="1">
                  <a:solidFill>
                    <a:srgbClr val="1B243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9D0D9"/>
            </a:solidFill>
          </a:ln>
        </c:spPr>
        <c:txPr>
          <a:bodyPr/>
          <a:lstStyle/>
          <a:p>
            <a:pPr>
              <a:defRPr sz="1300">
                <a:solidFill>
                  <a:srgbClr val="1B2430"/>
                </a:solidFill>
                <a:latin typeface="Calibri"/>
              </a:defRPr>
            </a:pPr>
          </a:p>
        </c:txPr>
        <c:crossAx val="-2113994440"/>
        <c:crosses val="autoZero"/>
        <c:auto val="1"/>
        <c:lblAlgn val="ctr"/>
        <c:lblOffset val="100"/>
        <c:noMultiLvlLbl val="0"/>
      </c:catAx>
      <c:valAx>
        <c:axId val="-2113994440"/>
        <c:scaling>
          <c:max val="400.0"/>
          <c:min val="0.0"/>
        </c:scaling>
        <c:delete val="0"/>
        <c:axPos val="b"/>
        <c:majorGridlines>
          <c:spPr>
            <a:ln>
              <a:solidFill>
                <a:srgbClr val="E3E7EC"/>
              </a:solidFill>
            </a:ln>
          </c:spPr>
        </c:majorGridlines>
        <c:majorTickMark val="out"/>
        <c:minorTickMark val="none"/>
        <c:tickLblPos val="nextTo"/>
        <c:spPr>
          <a:ln>
            <a:noFill/>
          </a:ln>
        </c:spPr>
        <c:txPr>
          <a:bodyPr/>
          <a:lstStyle/>
          <a:p>
            <a:pPr>
              <a:defRPr sz="1100">
                <a:solidFill>
                  <a:srgbClr val="5B6675"/>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HuisClos lets a lawyer use a general AI tool on a client file without sending the identities in it. Everything shown today uses invented names and identifiers.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need: summarise, draft, compare. The risk: the raw file goes to a third party. French professional secrecy covers the whole case file, and revealing it is an offence. Under the GDPR, pseudonymised data remain personal data, so we never claim anonymisation.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interface shows three steps. Import reads the text and proposes detections locally. Review is where the lawyer decides. Restore puts the real values back into the AI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title M. stays visible by convention, so the model keeps grammatical gender. The answer shown is illustrative: it was written for this slide, not produced by a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combines checksums, patterns, heuristics and the spaCy model of the document language; Enhanced adds CamemBERT for French or GLiNER for English, locally. Cleaning removes excluded words, resolves overlaps and finds every other mention. The human reviews before any token is assigned.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follow a fixed scale (decision D-07). The threshold 0.30 maximises F2 on the development set, the lowest value at a tie. On the G7 challenge, neither patterns nor the language model alone come close to their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highlighted value carries a colour and a written type. The lawyer validates each one. Before anything is copied or sent, the exact message, document plus instruction, is re-read. An alert never masks anything by itself; any edit revokes the earlier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files belong in the local installation. The public demo runs the same Standard code on the host's server and must only receive fictitious data. The AI tool receives the checked message and nothing else; the mapping table is never sent.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corpora are fictitious. Dev was used for tuning and is saturated. The historical test was measured four times across gates. The challenge was written blind after a rule freeze and is now known. C3 was written blind after the A4 freeze and measured once by G8.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registered resume on code 930c414, eight fictitious French documents already known since G7. Enhanced meets the four criteria fixed before the measure. The leakage reduction is significant on this set; the coverage gain is not, because its paired interval touches zero.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C3 figures are historical: measured once by G8 on code e3d13bd, not on the current code. English Enhanced loses 13.5 precision points against a two-point margin, so it is not recommended. There is no complete bilingual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mechanisms go beyond the course material: overlapping windows for the neural models, a projected analysis view for Unicode, tolerant restoration, case memory, the two-segment check with revoked consent, and paired bootstrap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detector finds everything; context can re-identify a person; there is no OCR; the corpora are small and fictitious; whoever holds the mapping table can re-identify the text; and a person can receive a new token in a later document of the same case.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French scope is validated on small fictitious corpora. English is experimental. A sourced legal review, a timed study with real users and a new English blind set are still needed. Pseudonymisation is not anonymisation.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chart" Target="../charts/chart1.xml"/><Relationship Id="rId5"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pic>
        <p:nvPicPr>
          <p:cNvPr id="2" name="Picture 1" descr="HuisClos logo: a closed door with a keyhole"/>
          <p:cNvPicPr>
            <a:picLocks noChangeAspect="1"/>
          </p:cNvPicPr>
          <p:nvPr/>
        </p:nvPicPr>
        <p:blipFill>
          <a:blip r:embed="rId3"/>
          <a:stretch>
            <a:fillRect/>
          </a:stretch>
        </p:blipFill>
        <p:spPr>
          <a:xfrm>
            <a:off x="822960" y="1600200"/>
            <a:ext cx="1371600" cy="1371600"/>
          </a:xfrm>
          <a:prstGeom prst="rect">
            <a:avLst/>
          </a:prstGeom>
        </p:spPr>
      </p:pic>
      <p:sp>
        <p:nvSpPr>
          <p:cNvPr id="3" name="TextBox 2"/>
          <p:cNvSpPr txBox="1"/>
          <p:nvPr/>
        </p:nvSpPr>
        <p:spPr>
          <a:xfrm>
            <a:off x="2468880" y="1554480"/>
            <a:ext cx="8686800" cy="1005840"/>
          </a:xfrm>
          <a:prstGeom prst="rect">
            <a:avLst/>
          </a:prstGeom>
          <a:noFill/>
        </p:spPr>
        <p:txBody>
          <a:bodyPr wrap="square" lIns="0" rIns="0" tIns="0" bIns="0" anchor="t">
            <a:spAutoFit/>
          </a:bodyPr>
          <a:lstStyle/>
          <a:p>
            <a:pPr algn="l">
              <a:spcAft>
                <a:spcPts val="600"/>
              </a:spcAft>
            </a:pPr>
            <a:r>
              <a:rPr sz="6000" b="1" i="0">
                <a:solidFill>
                  <a:srgbClr val="FFFFFF"/>
                </a:solidFill>
                <a:latin typeface="Cambria"/>
              </a:rPr>
              <a:t>HuisClos</a:t>
            </a:r>
          </a:p>
        </p:txBody>
      </p:sp>
      <p:sp>
        <p:nvSpPr>
          <p:cNvPr id="4" name="TextBox 3"/>
          <p:cNvSpPr txBox="1"/>
          <p:nvPr/>
        </p:nvSpPr>
        <p:spPr>
          <a:xfrm>
            <a:off x="2468880" y="2606040"/>
            <a:ext cx="8961120" cy="914400"/>
          </a:xfrm>
          <a:prstGeom prst="rect">
            <a:avLst/>
          </a:prstGeom>
          <a:noFill/>
        </p:spPr>
        <p:txBody>
          <a:bodyPr wrap="square" lIns="0" rIns="0" tIns="0" bIns="0" anchor="t">
            <a:spAutoFit/>
          </a:bodyPr>
          <a:lstStyle/>
          <a:p>
            <a:pPr algn="l">
              <a:spcAft>
                <a:spcPts val="600"/>
              </a:spcAft>
            </a:pPr>
            <a:r>
              <a:rPr sz="2400" b="0" i="1">
                <a:solidFill>
                  <a:srgbClr val="DCE6F0"/>
                </a:solidFill>
                <a:latin typeface="Calibri"/>
              </a:rPr>
              <a:t>Use generative AI on client files without breaching professional secrecy.</a:t>
            </a:r>
          </a:p>
        </p:txBody>
      </p:sp>
      <p:sp>
        <p:nvSpPr>
          <p:cNvPr id="5" name="TextBox 4"/>
          <p:cNvSpPr txBox="1"/>
          <p:nvPr/>
        </p:nvSpPr>
        <p:spPr>
          <a:xfrm>
            <a:off x="2468880" y="3749039"/>
            <a:ext cx="8961120" cy="822960"/>
          </a:xfrm>
          <a:prstGeom prst="rect">
            <a:avLst/>
          </a:prstGeom>
          <a:noFill/>
        </p:spPr>
        <p:txBody>
          <a:bodyPr wrap="square" lIns="0" rIns="0" tIns="0" bIns="0" anchor="t">
            <a:spAutoFit/>
          </a:bodyPr>
          <a:lstStyle/>
          <a:p>
            <a:pPr algn="l">
              <a:spcAft>
                <a:spcPts val="600"/>
              </a:spcAft>
            </a:pPr>
            <a:r>
              <a:rPr sz="1700" b="0" i="0">
                <a:solidFill>
                  <a:srgbClr val="FFFFFF"/>
                </a:solidFill>
                <a:latin typeface="Calibri"/>
              </a:rPr>
              <a:t>Local pseudonymisation of French and English legal documents, human review, outbound check and restoration of the AI answer.</a:t>
            </a:r>
          </a:p>
        </p:txBody>
      </p:sp>
      <p:sp>
        <p:nvSpPr>
          <p:cNvPr id="6" name="TextBox 5"/>
          <p:cNvSpPr txBox="1"/>
          <p:nvPr/>
        </p:nvSpPr>
        <p:spPr>
          <a:xfrm>
            <a:off x="822960" y="5806440"/>
            <a:ext cx="10515600" cy="365760"/>
          </a:xfrm>
          <a:prstGeom prst="rect">
            <a:avLst/>
          </a:prstGeom>
          <a:noFill/>
        </p:spPr>
        <p:txBody>
          <a:bodyPr wrap="square" lIns="0" rIns="0" tIns="0" bIns="0" anchor="t">
            <a:spAutoFit/>
          </a:bodyPr>
          <a:lstStyle/>
          <a:p>
            <a:pPr algn="l">
              <a:spcAft>
                <a:spcPts val="600"/>
              </a:spcAft>
            </a:pPr>
            <a:r>
              <a:rPr sz="1300" b="0" i="0">
                <a:solidFill>
                  <a:srgbClr val="B9C7D8"/>
                </a:solidFill>
                <a:latin typeface="Calibri"/>
              </a:rPr>
              <a:t>Advanced AI Algorithms  |  Group assignment  |  Feature freeze, 28 October 2026</a:t>
            </a:r>
          </a:p>
        </p:txBody>
      </p:sp>
      <p:sp>
        <p:nvSpPr>
          <p:cNvPr id="7" name="TextBox 6"/>
          <p:cNvSpPr txBox="1"/>
          <p:nvPr/>
        </p:nvSpPr>
        <p:spPr>
          <a:xfrm>
            <a:off x="822960" y="6172200"/>
            <a:ext cx="10515600" cy="365760"/>
          </a:xfrm>
          <a:prstGeom prst="rect">
            <a:avLst/>
          </a:prstGeom>
          <a:noFill/>
        </p:spPr>
        <p:txBody>
          <a:bodyPr wrap="square" lIns="0" rIns="0" tIns="0" bIns="0" anchor="t">
            <a:spAutoFit/>
          </a:bodyPr>
          <a:lstStyle/>
          <a:p>
            <a:pPr algn="l">
              <a:spcAft>
                <a:spcPts val="600"/>
              </a:spcAft>
            </a:pPr>
            <a:r>
              <a:rPr sz="1200" b="0" i="0">
                <a:solidFill>
                  <a:srgbClr val="B9C7D8"/>
                </a:solidFill>
                <a:latin typeface="Calibri"/>
              </a:rPr>
              <a:t>All names and identifiers in this deck are fictitious.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Client files are secret; AI tools are external</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2 / 14</a:t>
            </a:r>
          </a:p>
        </p:txBody>
      </p:sp>
      <p:sp>
        <p:nvSpPr>
          <p:cNvPr id="6" name="TextBox 5"/>
          <p:cNvSpPr txBox="1"/>
          <p:nvPr/>
        </p:nvSpPr>
        <p:spPr>
          <a:xfrm>
            <a:off x="548640" y="1417320"/>
            <a:ext cx="5760720" cy="4480560"/>
          </a:xfrm>
          <a:prstGeom prst="rect">
            <a:avLst/>
          </a:prstGeom>
          <a:noFill/>
        </p:spPr>
        <p:txBody>
          <a:bodyPr wrap="square" lIns="0" rIns="0" tIns="0" bIns="0" anchor="t">
            <a:spAutoFit/>
          </a:bodyPr>
          <a:lstStyle/>
          <a:p>
            <a:pPr algn="l" marL="201168" indent="-201168">
              <a:spcAft>
                <a:spcPts val="1200"/>
              </a:spcAft>
              <a:buFont typeface="Arial"/>
              <a:buChar char="•"/>
            </a:pPr>
            <a:r>
              <a:rPr sz="1700" b="0" i="0">
                <a:solidFill>
                  <a:srgbClr val="1B2430"/>
                </a:solidFill>
                <a:latin typeface="Calibri"/>
              </a:rPr>
              <a:t>Lawyers and legal staff want a language model to summarise a file, draft a letter or compare two contracts.</a:t>
            </a:r>
          </a:p>
          <a:p>
            <a:pPr algn="l" marL="201168" indent="-201168">
              <a:spcAft>
                <a:spcPts val="1200"/>
              </a:spcAft>
              <a:buFont typeface="Arial"/>
              <a:buChar char="•"/>
            </a:pPr>
            <a:r>
              <a:rPr sz="1700" b="0" i="0">
                <a:solidFill>
                  <a:srgbClr val="1B2430"/>
                </a:solidFill>
                <a:latin typeface="Calibri"/>
              </a:rPr>
              <a:t>Pasting the file as it is sends names, addresses, bank details and case numbers to a third party.</a:t>
            </a:r>
          </a:p>
          <a:p>
            <a:pPr algn="l" marL="201168" indent="-201168">
              <a:spcAft>
                <a:spcPts val="1200"/>
              </a:spcAft>
              <a:buFont typeface="Arial"/>
              <a:buChar char="•"/>
            </a:pPr>
            <a:r>
              <a:rPr sz="1700" b="0" i="0">
                <a:solidFill>
                  <a:srgbClr val="1B2430"/>
                </a:solidFill>
                <a:latin typeface="Calibri"/>
              </a:rPr>
              <a:t>Professional secrecy covers every document of the case file (Law no. 71-1130, art. 66-5); revealing it is an offence (Penal Code, art. 226-13).</a:t>
            </a:r>
          </a:p>
          <a:p>
            <a:pPr algn="l" marL="201168" indent="-201168">
              <a:spcAft>
                <a:spcPts val="1200"/>
              </a:spcAft>
              <a:buFont typeface="Arial"/>
              <a:buChar char="•"/>
            </a:pPr>
            <a:r>
              <a:rPr sz="1700" b="0" i="0">
                <a:solidFill>
                  <a:srgbClr val="1B2430"/>
                </a:solidFill>
                <a:latin typeface="Calibri"/>
              </a:rPr>
              <a:t>GDPR art. 4(5) defines pseudonymisation; recital 26: pseudonymised data remain personal data.</a:t>
            </a:r>
          </a:p>
        </p:txBody>
      </p:sp>
      <p:sp>
        <p:nvSpPr>
          <p:cNvPr id="7" name="Rounded Rectangle 6"/>
          <p:cNvSpPr/>
          <p:nvPr/>
        </p:nvSpPr>
        <p:spPr>
          <a:xfrm>
            <a:off x="6766560" y="1463040"/>
            <a:ext cx="4846320" cy="1783080"/>
          </a:xfrm>
          <a:prstGeom prst="roundRect">
            <a:avLst>
              <a:gd name="adj" fmla="val 6000"/>
            </a:avLst>
          </a:prstGeom>
          <a:solidFill>
            <a:srgbClr val="F6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0" y="1645920"/>
            <a:ext cx="4389120" cy="365760"/>
          </a:xfrm>
          <a:prstGeom prst="rect">
            <a:avLst/>
          </a:prstGeom>
          <a:noFill/>
        </p:spPr>
        <p:txBody>
          <a:bodyPr wrap="square" lIns="0" rIns="0" tIns="0" bIns="0" anchor="t">
            <a:spAutoFit/>
          </a:bodyPr>
          <a:lstStyle/>
          <a:p>
            <a:pPr algn="l">
              <a:spcAft>
                <a:spcPts val="600"/>
              </a:spcAft>
            </a:pPr>
            <a:r>
              <a:rPr sz="1800" b="1" i="0">
                <a:solidFill>
                  <a:srgbClr val="9B2C2C"/>
                </a:solidFill>
                <a:latin typeface="Calibri"/>
              </a:rPr>
              <a:t>Raw file to an AI tool</a:t>
            </a:r>
          </a:p>
        </p:txBody>
      </p:sp>
      <p:sp>
        <p:nvSpPr>
          <p:cNvPr id="9" name="TextBox 8"/>
          <p:cNvSpPr txBox="1"/>
          <p:nvPr/>
        </p:nvSpPr>
        <p:spPr>
          <a:xfrm>
            <a:off x="7040880" y="2103120"/>
            <a:ext cx="4389120" cy="1280160"/>
          </a:xfrm>
          <a:prstGeom prst="rect">
            <a:avLst/>
          </a:prstGeom>
          <a:noFill/>
        </p:spPr>
        <p:txBody>
          <a:bodyPr wrap="square" lIns="0" rIns="0" tIns="0" bIns="0" anchor="t">
            <a:spAutoFit/>
          </a:bodyPr>
          <a:lstStyle/>
          <a:p>
            <a:pPr algn="l">
              <a:spcAft>
                <a:spcPts val="600"/>
              </a:spcAft>
            </a:pPr>
            <a:r>
              <a:rPr sz="1300" b="0" i="0">
                <a:solidFill>
                  <a:srgbClr val="1B2430"/>
                </a:solidFill>
                <a:latin typeface="Courier New"/>
              </a:rPr>
              <a:t>M. Octave Brunel, salarié de Ferlac SARL, a écrit depuis octave.brunel@example.com.</a:t>
            </a:r>
          </a:p>
          <a:p>
            <a:pPr algn="l">
              <a:spcAft>
                <a:spcPts val="600"/>
              </a:spcAft>
            </a:pPr>
            <a:r>
              <a:rPr sz="1400" b="0" i="0">
                <a:solidFill>
                  <a:srgbClr val="9B2C2C"/>
                </a:solidFill>
                <a:latin typeface="Calibri"/>
              </a:rPr>
              <a:t>Every identifier leaves the firm.</a:t>
            </a:r>
          </a:p>
        </p:txBody>
      </p:sp>
      <p:sp>
        <p:nvSpPr>
          <p:cNvPr id="10" name="Rounded Rectangle 9"/>
          <p:cNvSpPr/>
          <p:nvPr/>
        </p:nvSpPr>
        <p:spPr>
          <a:xfrm>
            <a:off x="6766560" y="3520440"/>
            <a:ext cx="4846320" cy="1783080"/>
          </a:xfrm>
          <a:prstGeom prst="roundRect">
            <a:avLst>
              <a:gd name="adj" fmla="val 6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40880" y="3703320"/>
            <a:ext cx="4389120" cy="365760"/>
          </a:xfrm>
          <a:prstGeom prst="rect">
            <a:avLst/>
          </a:prstGeom>
          <a:noFill/>
        </p:spPr>
        <p:txBody>
          <a:bodyPr wrap="square" lIns="0" rIns="0" tIns="0" bIns="0" anchor="t">
            <a:spAutoFit/>
          </a:bodyPr>
          <a:lstStyle/>
          <a:p>
            <a:pPr algn="l">
              <a:spcAft>
                <a:spcPts val="600"/>
              </a:spcAft>
            </a:pPr>
            <a:r>
              <a:rPr sz="1800" b="1" i="0">
                <a:solidFill>
                  <a:srgbClr val="2E6B4F"/>
                </a:solidFill>
                <a:latin typeface="Calibri"/>
              </a:rPr>
              <a:t>With HuisClos</a:t>
            </a:r>
          </a:p>
        </p:txBody>
      </p:sp>
      <p:sp>
        <p:nvSpPr>
          <p:cNvPr id="12" name="TextBox 11"/>
          <p:cNvSpPr txBox="1"/>
          <p:nvPr/>
        </p:nvSpPr>
        <p:spPr>
          <a:xfrm>
            <a:off x="7040880" y="4160520"/>
            <a:ext cx="4389120" cy="1280160"/>
          </a:xfrm>
          <a:prstGeom prst="rect">
            <a:avLst/>
          </a:prstGeom>
          <a:noFill/>
        </p:spPr>
        <p:txBody>
          <a:bodyPr wrap="square" lIns="0" rIns="0" tIns="0" bIns="0" anchor="t">
            <a:spAutoFit/>
          </a:bodyPr>
          <a:lstStyle/>
          <a:p>
            <a:pPr algn="l">
              <a:spcAft>
                <a:spcPts val="600"/>
              </a:spcAft>
            </a:pPr>
            <a:r>
              <a:rPr sz="1300" b="0" i="0">
                <a:solidFill>
                  <a:srgbClr val="1B2430"/>
                </a:solidFill>
                <a:latin typeface="Courier New"/>
              </a:rPr>
              <a:t>M. [PERSONNE_1], salarié de [SOCIETE_A], a écrit depuis [EMAIL_1].</a:t>
            </a:r>
          </a:p>
          <a:p>
            <a:pPr algn="l">
              <a:spcAft>
                <a:spcPts val="600"/>
              </a:spcAft>
            </a:pPr>
            <a:r>
              <a:rPr sz="1400" b="0" i="0">
                <a:solidFill>
                  <a:srgbClr val="2E6B4F"/>
                </a:solidFill>
                <a:latin typeface="Calibri"/>
              </a:rPr>
              <a:t>Only checked tokens leave; the key stays local.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Three visible steps: Import, Review, Restore</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3 / 14</a:t>
            </a:r>
          </a:p>
        </p:txBody>
      </p:sp>
      <p:sp>
        <p:nvSpPr>
          <p:cNvPr id="6" name="Rounded Rectangle 5"/>
          <p:cNvSpPr/>
          <p:nvPr/>
        </p:nvSpPr>
        <p:spPr>
          <a:xfrm>
            <a:off x="548640" y="1371600"/>
            <a:ext cx="3520440" cy="3794760"/>
          </a:xfrm>
          <a:prstGeom prst="roundRect">
            <a:avLst>
              <a:gd name="adj" fmla="val 5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mport step with a fictitious English text"/>
          <p:cNvPicPr>
            <a:picLocks noChangeAspect="1"/>
          </p:cNvPicPr>
          <p:nvPr/>
        </p:nvPicPr>
        <p:blipFill>
          <a:blip r:embed="rId4"/>
          <a:stretch>
            <a:fillRect/>
          </a:stretch>
        </p:blipFill>
        <p:spPr>
          <a:xfrm>
            <a:off x="777240" y="1572768"/>
            <a:ext cx="3063240" cy="1808162"/>
          </a:xfrm>
          <a:prstGeom prst="rect">
            <a:avLst/>
          </a:prstGeom>
        </p:spPr>
      </p:pic>
      <p:sp>
        <p:nvSpPr>
          <p:cNvPr id="8" name="Oval 7"/>
          <p:cNvSpPr/>
          <p:nvPr/>
        </p:nvSpPr>
        <p:spPr>
          <a:xfrm>
            <a:off x="777240" y="3493008"/>
            <a:ext cx="457200" cy="45720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1</a:t>
            </a:r>
          </a:p>
        </p:txBody>
      </p:sp>
      <p:sp>
        <p:nvSpPr>
          <p:cNvPr id="9" name="TextBox 8"/>
          <p:cNvSpPr txBox="1"/>
          <p:nvPr/>
        </p:nvSpPr>
        <p:spPr>
          <a:xfrm>
            <a:off x="1371600" y="3493008"/>
            <a:ext cx="2468880" cy="457200"/>
          </a:xfrm>
          <a:prstGeom prst="rect">
            <a:avLst/>
          </a:prstGeom>
          <a:noFill/>
        </p:spPr>
        <p:txBody>
          <a:bodyPr wrap="square" lIns="0" rIns="0" tIns="0" bIns="0" anchor="ctr">
            <a:spAutoFit/>
          </a:bodyPr>
          <a:lstStyle/>
          <a:p>
            <a:pPr algn="l">
              <a:spcAft>
                <a:spcPts val="600"/>
              </a:spcAft>
            </a:pPr>
            <a:r>
              <a:rPr sz="2000" b="1" i="0">
                <a:solidFill>
                  <a:srgbClr val="1F3A5F"/>
                </a:solidFill>
                <a:latin typeface="Cambria"/>
              </a:rPr>
              <a:t>Import</a:t>
            </a:r>
          </a:p>
        </p:txBody>
      </p:sp>
      <p:sp>
        <p:nvSpPr>
          <p:cNvPr id="10" name="TextBox 9"/>
          <p:cNvSpPr txBox="1"/>
          <p:nvPr/>
        </p:nvSpPr>
        <p:spPr>
          <a:xfrm>
            <a:off x="777240" y="4114800"/>
            <a:ext cx="306324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Paste text or open a .txt, .docx or text-based PDF. Detection runs on the computer.</a:t>
            </a:r>
          </a:p>
        </p:txBody>
      </p:sp>
      <p:sp>
        <p:nvSpPr>
          <p:cNvPr id="11" name="Rounded Rectangle 10"/>
          <p:cNvSpPr/>
          <p:nvPr/>
        </p:nvSpPr>
        <p:spPr>
          <a:xfrm>
            <a:off x="4343400" y="1371600"/>
            <a:ext cx="3520440" cy="3794760"/>
          </a:xfrm>
          <a:prstGeom prst="roundRect">
            <a:avLst>
              <a:gd name="adj" fmla="val 5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eview step: highlighted values of the fictitious sample case"/>
          <p:cNvPicPr>
            <a:picLocks noChangeAspect="1"/>
          </p:cNvPicPr>
          <p:nvPr/>
        </p:nvPicPr>
        <p:blipFill>
          <a:blip r:embed="rId5"/>
          <a:stretch>
            <a:fillRect/>
          </a:stretch>
        </p:blipFill>
        <p:spPr>
          <a:xfrm>
            <a:off x="4572000" y="1572768"/>
            <a:ext cx="3063240" cy="1741932"/>
          </a:xfrm>
          <a:prstGeom prst="rect">
            <a:avLst/>
          </a:prstGeom>
        </p:spPr>
      </p:pic>
      <p:sp>
        <p:nvSpPr>
          <p:cNvPr id="13" name="Oval 12"/>
          <p:cNvSpPr/>
          <p:nvPr/>
        </p:nvSpPr>
        <p:spPr>
          <a:xfrm>
            <a:off x="4572000" y="3493008"/>
            <a:ext cx="457200" cy="45720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2</a:t>
            </a:r>
          </a:p>
        </p:txBody>
      </p:sp>
      <p:sp>
        <p:nvSpPr>
          <p:cNvPr id="14" name="TextBox 13"/>
          <p:cNvSpPr txBox="1"/>
          <p:nvPr/>
        </p:nvSpPr>
        <p:spPr>
          <a:xfrm>
            <a:off x="5166360" y="3493008"/>
            <a:ext cx="2468880" cy="457200"/>
          </a:xfrm>
          <a:prstGeom prst="rect">
            <a:avLst/>
          </a:prstGeom>
          <a:noFill/>
        </p:spPr>
        <p:txBody>
          <a:bodyPr wrap="square" lIns="0" rIns="0" tIns="0" bIns="0" anchor="ctr">
            <a:spAutoFit/>
          </a:bodyPr>
          <a:lstStyle/>
          <a:p>
            <a:pPr algn="l">
              <a:spcAft>
                <a:spcPts val="600"/>
              </a:spcAft>
            </a:pPr>
            <a:r>
              <a:rPr sz="2000" b="1" i="0">
                <a:solidFill>
                  <a:srgbClr val="1F3A5F"/>
                </a:solidFill>
                <a:latin typeface="Cambria"/>
              </a:rPr>
              <a:t>Review</a:t>
            </a:r>
          </a:p>
        </p:txBody>
      </p:sp>
      <p:sp>
        <p:nvSpPr>
          <p:cNvPr id="15" name="TextBox 14"/>
          <p:cNvSpPr txBox="1"/>
          <p:nvPr/>
        </p:nvSpPr>
        <p:spPr>
          <a:xfrm>
            <a:off x="4572000" y="4114800"/>
            <a:ext cx="306324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Keep, reject, retype or add each value. Nothing is accepted by default.</a:t>
            </a:r>
          </a:p>
        </p:txBody>
      </p:sp>
      <p:sp>
        <p:nvSpPr>
          <p:cNvPr id="16" name="Rounded Rectangle 15"/>
          <p:cNvSpPr/>
          <p:nvPr/>
        </p:nvSpPr>
        <p:spPr>
          <a:xfrm>
            <a:off x="8138160" y="1371600"/>
            <a:ext cx="3520440" cy="3794760"/>
          </a:xfrm>
          <a:prstGeom prst="roundRect">
            <a:avLst>
              <a:gd name="adj" fmla="val 5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estore step: restored answer with unknown and altered tokens"/>
          <p:cNvPicPr>
            <a:picLocks noChangeAspect="1"/>
          </p:cNvPicPr>
          <p:nvPr/>
        </p:nvPicPr>
        <p:blipFill>
          <a:blip r:embed="rId6"/>
          <a:stretch>
            <a:fillRect/>
          </a:stretch>
        </p:blipFill>
        <p:spPr>
          <a:xfrm>
            <a:off x="8366760" y="1572768"/>
            <a:ext cx="3063240" cy="1742152"/>
          </a:xfrm>
          <a:prstGeom prst="rect">
            <a:avLst/>
          </a:prstGeom>
        </p:spPr>
      </p:pic>
      <p:sp>
        <p:nvSpPr>
          <p:cNvPr id="18" name="Oval 17"/>
          <p:cNvSpPr/>
          <p:nvPr/>
        </p:nvSpPr>
        <p:spPr>
          <a:xfrm>
            <a:off x="8366760" y="3493008"/>
            <a:ext cx="457200" cy="45720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3</a:t>
            </a:r>
          </a:p>
        </p:txBody>
      </p:sp>
      <p:sp>
        <p:nvSpPr>
          <p:cNvPr id="19" name="TextBox 18"/>
          <p:cNvSpPr txBox="1"/>
          <p:nvPr/>
        </p:nvSpPr>
        <p:spPr>
          <a:xfrm>
            <a:off x="8961120" y="3493008"/>
            <a:ext cx="2468880" cy="457200"/>
          </a:xfrm>
          <a:prstGeom prst="rect">
            <a:avLst/>
          </a:prstGeom>
          <a:noFill/>
        </p:spPr>
        <p:txBody>
          <a:bodyPr wrap="square" lIns="0" rIns="0" tIns="0" bIns="0" anchor="ctr">
            <a:spAutoFit/>
          </a:bodyPr>
          <a:lstStyle/>
          <a:p>
            <a:pPr algn="l">
              <a:spcAft>
                <a:spcPts val="600"/>
              </a:spcAft>
            </a:pPr>
            <a:r>
              <a:rPr sz="2000" b="1" i="0">
                <a:solidFill>
                  <a:srgbClr val="1F3A5F"/>
                </a:solidFill>
                <a:latin typeface="Cambria"/>
              </a:rPr>
              <a:t>Restore</a:t>
            </a:r>
          </a:p>
        </p:txBody>
      </p:sp>
      <p:sp>
        <p:nvSpPr>
          <p:cNvPr id="20" name="TextBox 19"/>
          <p:cNvSpPr txBox="1"/>
          <p:nvPr/>
        </p:nvSpPr>
        <p:spPr>
          <a:xfrm>
            <a:off x="8366760" y="4114800"/>
            <a:ext cx="306324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Paste the AI answer: tokens become real values; unknown tokens are listed.</a:t>
            </a:r>
          </a:p>
        </p:txBody>
      </p:sp>
      <p:sp>
        <p:nvSpPr>
          <p:cNvPr id="21" name="Rounded Rectangle 20"/>
          <p:cNvSpPr/>
          <p:nvPr/>
        </p:nvSpPr>
        <p:spPr>
          <a:xfrm>
            <a:off x="548640" y="5349240"/>
            <a:ext cx="11064240" cy="731520"/>
          </a:xfrm>
          <a:prstGeom prst="roundRect">
            <a:avLst>
              <a:gd name="adj" fmla="val 10000"/>
            </a:avLst>
          </a:prstGeom>
          <a:solidFill>
            <a:srgbClr val="E1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8680" y="5349240"/>
            <a:ext cx="10424160" cy="731520"/>
          </a:xfrm>
          <a:prstGeom prst="rect">
            <a:avLst/>
          </a:prstGeom>
          <a:noFill/>
        </p:spPr>
        <p:txBody>
          <a:bodyPr wrap="square" lIns="0" rIns="0" tIns="0" bIns="0" anchor="ctr">
            <a:spAutoFit/>
          </a:bodyPr>
          <a:lstStyle/>
          <a:p>
            <a:pPr algn="l">
              <a:spcAft>
                <a:spcPts val="600"/>
              </a:spcAft>
            </a:pPr>
            <a:r>
              <a:rPr sz="1600" b="0" i="0">
                <a:solidFill>
                  <a:srgbClr val="1B2430"/>
                </a:solidFill>
                <a:latin typeface="Calibri"/>
              </a:rPr>
              <a:t>Between Review and Restore: tokens, then an outbound check of the exact message. The mapping table never leaves the computer.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One fictitious sentence, end to end</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4 / 14</a:t>
            </a:r>
          </a:p>
        </p:txBody>
      </p:sp>
      <p:sp>
        <p:nvSpPr>
          <p:cNvPr id="6" name="Rounded Rectangle 5"/>
          <p:cNvSpPr/>
          <p:nvPr/>
        </p:nvSpPr>
        <p:spPr>
          <a:xfrm>
            <a:off x="548640" y="1463040"/>
            <a:ext cx="11064240" cy="960120"/>
          </a:xfrm>
          <a:prstGeom prst="roundRect">
            <a:avLst>
              <a:gd name="adj" fmla="val 8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463040"/>
            <a:ext cx="2651760" cy="960120"/>
          </a:xfrm>
          <a:prstGeom prst="rect">
            <a:avLst/>
          </a:prstGeom>
          <a:noFill/>
        </p:spPr>
        <p:txBody>
          <a:bodyPr wrap="square" lIns="0" rIns="0" tIns="0" bIns="0" anchor="ctr">
            <a:spAutoFit/>
          </a:bodyPr>
          <a:lstStyle/>
          <a:p>
            <a:pPr algn="l">
              <a:spcAft>
                <a:spcPts val="600"/>
              </a:spcAft>
            </a:pPr>
            <a:r>
              <a:rPr sz="1500" b="1" i="0">
                <a:solidFill>
                  <a:srgbClr val="1F3A5F"/>
                </a:solidFill>
                <a:latin typeface="Calibri"/>
              </a:rPr>
              <a:t>Original</a:t>
            </a:r>
          </a:p>
        </p:txBody>
      </p:sp>
      <p:sp>
        <p:nvSpPr>
          <p:cNvPr id="8" name="TextBox 7"/>
          <p:cNvSpPr txBox="1"/>
          <p:nvPr/>
        </p:nvSpPr>
        <p:spPr>
          <a:xfrm>
            <a:off x="3566160" y="1463040"/>
            <a:ext cx="7863840" cy="960120"/>
          </a:xfrm>
          <a:prstGeom prst="rect">
            <a:avLst/>
          </a:prstGeom>
          <a:noFill/>
        </p:spPr>
        <p:txBody>
          <a:bodyPr wrap="square" lIns="0" rIns="0" tIns="0" bIns="0" anchor="ctr">
            <a:spAutoFit/>
          </a:bodyPr>
          <a:lstStyle/>
          <a:p>
            <a:pPr algn="l">
              <a:spcAft>
                <a:spcPts val="600"/>
              </a:spcAft>
            </a:pPr>
            <a:r>
              <a:rPr sz="1600" b="0" i="0">
                <a:solidFill>
                  <a:srgbClr val="1B2430"/>
                </a:solidFill>
                <a:latin typeface="Calibri"/>
              </a:rPr>
              <a:t>M. </a:t>
            </a:r>
            <a:r>
              <a:rPr sz="1600" b="1" i="0">
                <a:solidFill>
                  <a:srgbClr val="1F3A5F"/>
                </a:solidFill>
                <a:latin typeface="Calibri"/>
              </a:rPr>
              <a:t>Octave Brunel</a:t>
            </a:r>
            <a:r>
              <a:rPr sz="1000" b="1" i="0">
                <a:solidFill>
                  <a:srgbClr val="1F3A5F"/>
                </a:solidFill>
                <a:latin typeface="Calibri"/>
              </a:rPr>
              <a:t> PERSON</a:t>
            </a:r>
            <a:r>
              <a:rPr sz="1600" b="0" i="0">
                <a:solidFill>
                  <a:srgbClr val="1B2430"/>
                </a:solidFill>
                <a:latin typeface="Calibri"/>
              </a:rPr>
              <a:t>, salarié de </a:t>
            </a:r>
            <a:r>
              <a:rPr sz="1600" b="1" i="0">
                <a:solidFill>
                  <a:srgbClr val="2E6B4F"/>
                </a:solidFill>
                <a:latin typeface="Calibri"/>
              </a:rPr>
              <a:t>Ferlac SARL</a:t>
            </a:r>
            <a:r>
              <a:rPr sz="1000" b="1" i="0">
                <a:solidFill>
                  <a:srgbClr val="2E6B4F"/>
                </a:solidFill>
                <a:latin typeface="Calibri"/>
              </a:rPr>
              <a:t> COMPANY</a:t>
            </a:r>
            <a:r>
              <a:rPr sz="1600" b="0" i="0">
                <a:solidFill>
                  <a:srgbClr val="1B2430"/>
                </a:solidFill>
                <a:latin typeface="Calibri"/>
              </a:rPr>
              <a:t>, a écrit depuis </a:t>
            </a:r>
            <a:r>
              <a:rPr sz="1600" b="1" i="0">
                <a:solidFill>
                  <a:srgbClr val="0E7490"/>
                </a:solidFill>
                <a:latin typeface="Calibri"/>
              </a:rPr>
              <a:t>octave.brunel@example.com</a:t>
            </a:r>
            <a:r>
              <a:rPr sz="1000" b="1" i="0">
                <a:solidFill>
                  <a:srgbClr val="0E7490"/>
                </a:solidFill>
                <a:latin typeface="Calibri"/>
              </a:rPr>
              <a:t> EMAIL</a:t>
            </a:r>
            <a:r>
              <a:rPr sz="1600" b="0" i="0">
                <a:solidFill>
                  <a:srgbClr val="1B2430"/>
                </a:solidFill>
                <a:latin typeface="Calibri"/>
              </a:rPr>
              <a:t>.</a:t>
            </a:r>
          </a:p>
        </p:txBody>
      </p:sp>
      <p:sp>
        <p:nvSpPr>
          <p:cNvPr id="9" name="Rounded Rectangle 8"/>
          <p:cNvSpPr/>
          <p:nvPr/>
        </p:nvSpPr>
        <p:spPr>
          <a:xfrm>
            <a:off x="548640" y="2633472"/>
            <a:ext cx="11064240" cy="960120"/>
          </a:xfrm>
          <a:prstGeom prst="roundRect">
            <a:avLst>
              <a:gd name="adj" fmla="val 8000"/>
            </a:avLst>
          </a:prstGeom>
          <a:solidFill>
            <a:srgbClr val="E8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2633472"/>
            <a:ext cx="2651760" cy="960120"/>
          </a:xfrm>
          <a:prstGeom prst="rect">
            <a:avLst/>
          </a:prstGeom>
          <a:noFill/>
        </p:spPr>
        <p:txBody>
          <a:bodyPr wrap="square" lIns="0" rIns="0" tIns="0" bIns="0" anchor="ctr">
            <a:spAutoFit/>
          </a:bodyPr>
          <a:lstStyle/>
          <a:p>
            <a:pPr algn="l">
              <a:spcAft>
                <a:spcPts val="600"/>
              </a:spcAft>
            </a:pPr>
            <a:r>
              <a:rPr sz="1500" b="1" i="0">
                <a:solidFill>
                  <a:srgbClr val="1F3A5F"/>
                </a:solidFill>
                <a:latin typeface="Calibri"/>
              </a:rPr>
              <a:t>Sent to the AI tool</a:t>
            </a:r>
          </a:p>
        </p:txBody>
      </p:sp>
      <p:sp>
        <p:nvSpPr>
          <p:cNvPr id="11" name="TextBox 10"/>
          <p:cNvSpPr txBox="1"/>
          <p:nvPr/>
        </p:nvSpPr>
        <p:spPr>
          <a:xfrm>
            <a:off x="3566160" y="2633472"/>
            <a:ext cx="7863840" cy="960120"/>
          </a:xfrm>
          <a:prstGeom prst="rect">
            <a:avLst/>
          </a:prstGeom>
          <a:noFill/>
        </p:spPr>
        <p:txBody>
          <a:bodyPr wrap="square" lIns="0" rIns="0" tIns="0" bIns="0" anchor="ctr">
            <a:spAutoFit/>
          </a:bodyPr>
          <a:lstStyle/>
          <a:p>
            <a:pPr algn="l">
              <a:spcAft>
                <a:spcPts val="600"/>
              </a:spcAft>
            </a:pPr>
            <a:r>
              <a:rPr sz="1600" b="0" i="0">
                <a:solidFill>
                  <a:srgbClr val="1B2430"/>
                </a:solidFill>
                <a:latin typeface="Courier New"/>
              </a:rPr>
              <a:t>M. [PERSONNE_1], salarié de [SOCIETE_A], a écrit depuis [EMAIL_1].</a:t>
            </a:r>
          </a:p>
        </p:txBody>
      </p:sp>
      <p:sp>
        <p:nvSpPr>
          <p:cNvPr id="12" name="Rounded Rectangle 11"/>
          <p:cNvSpPr/>
          <p:nvPr/>
        </p:nvSpPr>
        <p:spPr>
          <a:xfrm>
            <a:off x="548640" y="3803904"/>
            <a:ext cx="11064240" cy="96012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3803904"/>
            <a:ext cx="2651760" cy="960120"/>
          </a:xfrm>
          <a:prstGeom prst="rect">
            <a:avLst/>
          </a:prstGeom>
          <a:noFill/>
        </p:spPr>
        <p:txBody>
          <a:bodyPr wrap="square" lIns="0" rIns="0" tIns="0" bIns="0" anchor="ctr">
            <a:spAutoFit/>
          </a:bodyPr>
          <a:lstStyle/>
          <a:p>
            <a:pPr algn="l">
              <a:spcAft>
                <a:spcPts val="600"/>
              </a:spcAft>
            </a:pPr>
            <a:r>
              <a:rPr sz="1500" b="1" i="0">
                <a:solidFill>
                  <a:srgbClr val="1F3A5F"/>
                </a:solidFill>
                <a:latin typeface="Calibri"/>
              </a:rPr>
              <a:t>AI answer (illustrative)</a:t>
            </a:r>
          </a:p>
        </p:txBody>
      </p:sp>
      <p:sp>
        <p:nvSpPr>
          <p:cNvPr id="14" name="TextBox 13"/>
          <p:cNvSpPr txBox="1"/>
          <p:nvPr/>
        </p:nvSpPr>
        <p:spPr>
          <a:xfrm>
            <a:off x="3566160" y="3803904"/>
            <a:ext cx="7863840" cy="960120"/>
          </a:xfrm>
          <a:prstGeom prst="rect">
            <a:avLst/>
          </a:prstGeom>
          <a:noFill/>
        </p:spPr>
        <p:txBody>
          <a:bodyPr wrap="square" lIns="0" rIns="0" tIns="0" bIns="0" anchor="ctr">
            <a:spAutoFit/>
          </a:bodyPr>
          <a:lstStyle/>
          <a:p>
            <a:pPr algn="l">
              <a:spcAft>
                <a:spcPts val="600"/>
              </a:spcAft>
            </a:pPr>
            <a:r>
              <a:rPr sz="1600" b="0" i="0">
                <a:solidFill>
                  <a:srgbClr val="1B2430"/>
                </a:solidFill>
                <a:latin typeface="Courier New"/>
              </a:rPr>
              <a:t>[PERSONNE_1] should reply to [SOCIETE_A] within eight days.</a:t>
            </a:r>
          </a:p>
        </p:txBody>
      </p:sp>
      <p:sp>
        <p:nvSpPr>
          <p:cNvPr id="15" name="Rounded Rectangle 14"/>
          <p:cNvSpPr/>
          <p:nvPr/>
        </p:nvSpPr>
        <p:spPr>
          <a:xfrm>
            <a:off x="548640" y="4974336"/>
            <a:ext cx="11064240" cy="960120"/>
          </a:xfrm>
          <a:prstGeom prst="roundRect">
            <a:avLst>
              <a:gd name="adj" fmla="val 8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 y="4974336"/>
            <a:ext cx="2651760" cy="960120"/>
          </a:xfrm>
          <a:prstGeom prst="rect">
            <a:avLst/>
          </a:prstGeom>
          <a:noFill/>
        </p:spPr>
        <p:txBody>
          <a:bodyPr wrap="square" lIns="0" rIns="0" tIns="0" bIns="0" anchor="ctr">
            <a:spAutoFit/>
          </a:bodyPr>
          <a:lstStyle/>
          <a:p>
            <a:pPr algn="l">
              <a:spcAft>
                <a:spcPts val="600"/>
              </a:spcAft>
            </a:pPr>
            <a:r>
              <a:rPr sz="1500" b="1" i="0">
                <a:solidFill>
                  <a:srgbClr val="1F3A5F"/>
                </a:solidFill>
                <a:latin typeface="Calibri"/>
              </a:rPr>
              <a:t>Restored locally</a:t>
            </a:r>
          </a:p>
        </p:txBody>
      </p:sp>
      <p:sp>
        <p:nvSpPr>
          <p:cNvPr id="17" name="TextBox 16"/>
          <p:cNvSpPr txBox="1"/>
          <p:nvPr/>
        </p:nvSpPr>
        <p:spPr>
          <a:xfrm>
            <a:off x="3566160" y="4974336"/>
            <a:ext cx="7863840" cy="960120"/>
          </a:xfrm>
          <a:prstGeom prst="rect">
            <a:avLst/>
          </a:prstGeom>
          <a:noFill/>
        </p:spPr>
        <p:txBody>
          <a:bodyPr wrap="square" lIns="0" rIns="0" tIns="0" bIns="0" anchor="ctr">
            <a:spAutoFit/>
          </a:bodyPr>
          <a:lstStyle/>
          <a:p>
            <a:pPr algn="l">
              <a:spcAft>
                <a:spcPts val="600"/>
              </a:spcAft>
            </a:pPr>
            <a:r>
              <a:rPr sz="1600" b="0" i="0">
                <a:solidFill>
                  <a:srgbClr val="1B2430"/>
                </a:solidFill>
                <a:latin typeface="Calibri"/>
              </a:rPr>
              <a:t>Octave Brunel should reply to Ferlac SARL within eight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The pipeline: rules, models and a human</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5 / 14</a:t>
            </a:r>
          </a:p>
        </p:txBody>
      </p:sp>
      <p:sp>
        <p:nvSpPr>
          <p:cNvPr id="6" name="Rounded Rectangle 5"/>
          <p:cNvSpPr/>
          <p:nvPr/>
        </p:nvSpPr>
        <p:spPr>
          <a:xfrm>
            <a:off x="548640" y="1417320"/>
            <a:ext cx="2377440" cy="1097280"/>
          </a:xfrm>
          <a:prstGeom prst="roundRect">
            <a:avLst>
              <a:gd name="adj" fmla="val 8000"/>
            </a:avLst>
          </a:prstGeom>
          <a:solidFill>
            <a:srgbClr val="E8EDF4"/>
          </a:solidFill>
          <a:ln w="12700">
            <a:solidFill>
              <a:srgbClr val="C9D0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3A5F"/>
                </a:solidFill>
                <a:latin typeface="Calibri"/>
              </a:rPr>
              <a:t>Import</a:t>
            </a:r>
          </a:p>
          <a:p>
            <a:pPr algn="ctr"/>
            <a:r>
              <a:rPr sz="1100" b="0" i="0">
                <a:solidFill>
                  <a:srgbClr val="5B6675"/>
                </a:solidFill>
                <a:latin typeface="Calibri"/>
              </a:rPr>
              <a:t>paste, .txt, .docx, text-based PDF</a:t>
            </a:r>
          </a:p>
        </p:txBody>
      </p:sp>
      <p:sp>
        <p:nvSpPr>
          <p:cNvPr id="7" name="Rounded Rectangle 6"/>
          <p:cNvSpPr/>
          <p:nvPr/>
        </p:nvSpPr>
        <p:spPr>
          <a:xfrm>
            <a:off x="3444544" y="1417320"/>
            <a:ext cx="2377440" cy="1097280"/>
          </a:xfrm>
          <a:prstGeom prst="roundRect">
            <a:avLst>
              <a:gd name="adj" fmla="val 8000"/>
            </a:avLst>
          </a:prstGeom>
          <a:solidFill>
            <a:srgbClr val="E8EDF4"/>
          </a:solidFill>
          <a:ln w="12700">
            <a:solidFill>
              <a:srgbClr val="C9D0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3A5F"/>
                </a:solidFill>
                <a:latin typeface="Calibri"/>
              </a:rPr>
              <a:t>Detection</a:t>
            </a:r>
          </a:p>
          <a:p>
            <a:pPr algn="ctr"/>
            <a:r>
              <a:rPr sz="1100" b="0" i="0">
                <a:solidFill>
                  <a:srgbClr val="5B6675"/>
                </a:solidFill>
                <a:latin typeface="Calibri"/>
              </a:rPr>
              <a:t>keys, patterns, heuristics, spaCy, optional local model</a:t>
            </a:r>
          </a:p>
        </p:txBody>
      </p:sp>
      <p:sp>
        <p:nvSpPr>
          <p:cNvPr id="8" name="Rounded Rectangle 7"/>
          <p:cNvSpPr/>
          <p:nvPr/>
        </p:nvSpPr>
        <p:spPr>
          <a:xfrm>
            <a:off x="6340449" y="1417320"/>
            <a:ext cx="2377440" cy="1097280"/>
          </a:xfrm>
          <a:prstGeom prst="roundRect">
            <a:avLst>
              <a:gd name="adj" fmla="val 8000"/>
            </a:avLst>
          </a:prstGeom>
          <a:solidFill>
            <a:srgbClr val="E8EDF4"/>
          </a:solidFill>
          <a:ln w="12700">
            <a:solidFill>
              <a:srgbClr val="C9D0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3A5F"/>
                </a:solidFill>
                <a:latin typeface="Calibri"/>
              </a:rPr>
              <a:t>Cleaning</a:t>
            </a:r>
          </a:p>
          <a:p>
            <a:pPr algn="ctr"/>
            <a:r>
              <a:rPr sz="1100" b="0" i="0">
                <a:solidFill>
                  <a:srgbClr val="5B6675"/>
                </a:solidFill>
                <a:latin typeface="Calibri"/>
              </a:rPr>
              <a:t>exclusions, merge, company bounds, propagation</a:t>
            </a:r>
          </a:p>
        </p:txBody>
      </p:sp>
      <p:sp>
        <p:nvSpPr>
          <p:cNvPr id="9" name="Rounded Rectangle 8"/>
          <p:cNvSpPr/>
          <p:nvPr/>
        </p:nvSpPr>
        <p:spPr>
          <a:xfrm>
            <a:off x="9236354" y="1417320"/>
            <a:ext cx="2377440" cy="1097280"/>
          </a:xfrm>
          <a:prstGeom prst="roundRect">
            <a:avLst>
              <a:gd name="adj" fmla="val 8000"/>
            </a:avLst>
          </a:prstGeom>
          <a:solidFill>
            <a:srgbClr val="0E7490"/>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Human review</a:t>
            </a:r>
          </a:p>
          <a:p>
            <a:pPr algn="ctr"/>
            <a:r>
              <a:rPr sz="1100" b="0" i="0">
                <a:solidFill>
                  <a:srgbClr val="FFFFFF"/>
                </a:solidFill>
                <a:latin typeface="Calibri"/>
              </a:rPr>
              <a:t>keep, reject, retype, add</a:t>
            </a:r>
          </a:p>
        </p:txBody>
      </p:sp>
      <p:sp>
        <p:nvSpPr>
          <p:cNvPr id="10" name="Rounded Rectangle 9"/>
          <p:cNvSpPr/>
          <p:nvPr/>
        </p:nvSpPr>
        <p:spPr>
          <a:xfrm>
            <a:off x="9236354" y="3383280"/>
            <a:ext cx="2377440" cy="1097280"/>
          </a:xfrm>
          <a:prstGeom prst="roundRect">
            <a:avLst>
              <a:gd name="adj" fmla="val 8000"/>
            </a:avLst>
          </a:prstGeom>
          <a:solidFill>
            <a:srgbClr val="E8EDF4"/>
          </a:solidFill>
          <a:ln w="12700">
            <a:solidFill>
              <a:srgbClr val="C9D0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3A5F"/>
                </a:solidFill>
                <a:latin typeface="Calibri"/>
              </a:rPr>
              <a:t>Tokens</a:t>
            </a:r>
          </a:p>
          <a:p>
            <a:pPr algn="ctr"/>
            <a:r>
              <a:rPr sz="1100" b="0" i="0">
                <a:solidFill>
                  <a:srgbClr val="5B6675"/>
                </a:solidFill>
                <a:latin typeface="Calibri"/>
              </a:rPr>
              <a:t>grouping: [PERSONNE_1], [SOCIETE_A]</a:t>
            </a:r>
          </a:p>
        </p:txBody>
      </p:sp>
      <p:sp>
        <p:nvSpPr>
          <p:cNvPr id="11" name="Rounded Rectangle 10"/>
          <p:cNvSpPr/>
          <p:nvPr/>
        </p:nvSpPr>
        <p:spPr>
          <a:xfrm>
            <a:off x="6340449" y="3383280"/>
            <a:ext cx="2377440" cy="1097280"/>
          </a:xfrm>
          <a:prstGeom prst="roundRect">
            <a:avLst>
              <a:gd name="adj" fmla="val 8000"/>
            </a:avLst>
          </a:prstGeom>
          <a:solidFill>
            <a:srgbClr val="E8EDF4"/>
          </a:solidFill>
          <a:ln w="12700">
            <a:solidFill>
              <a:srgbClr val="C9D0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3A5F"/>
                </a:solidFill>
                <a:latin typeface="Calibri"/>
              </a:rPr>
              <a:t>Outbound check</a:t>
            </a:r>
          </a:p>
          <a:p>
            <a:pPr algn="ctr"/>
            <a:r>
              <a:rPr sz="1100" b="0" i="0">
                <a:solidFill>
                  <a:srgbClr val="5B6675"/>
                </a:solidFill>
                <a:latin typeface="Calibri"/>
              </a:rPr>
              <a:t>document and instruction re-read</a:t>
            </a:r>
          </a:p>
        </p:txBody>
      </p:sp>
      <p:sp>
        <p:nvSpPr>
          <p:cNvPr id="12" name="Rounded Rectangle 11"/>
          <p:cNvSpPr/>
          <p:nvPr/>
        </p:nvSpPr>
        <p:spPr>
          <a:xfrm>
            <a:off x="3444544" y="3383280"/>
            <a:ext cx="2377440" cy="1097280"/>
          </a:xfrm>
          <a:prstGeom prst="roundRect">
            <a:avLst>
              <a:gd name="adj" fmla="val 8000"/>
            </a:avLst>
          </a:prstGeom>
          <a:solidFill>
            <a:srgbClr val="FBF0DC"/>
          </a:solidFill>
          <a:ln w="12700">
            <a:solidFill>
              <a:srgbClr val="8C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8C5A00"/>
                </a:solidFill>
                <a:latin typeface="Calibri"/>
              </a:rPr>
              <a:t>External AI tool</a:t>
            </a:r>
          </a:p>
          <a:p>
            <a:pPr algn="ctr"/>
            <a:r>
              <a:rPr sz="1100" b="0" i="0">
                <a:solidFill>
                  <a:srgbClr val="1B2430"/>
                </a:solidFill>
                <a:latin typeface="Calibri"/>
              </a:rPr>
              <a:t>third party: receives the checked message only</a:t>
            </a:r>
          </a:p>
        </p:txBody>
      </p:sp>
      <p:sp>
        <p:nvSpPr>
          <p:cNvPr id="13" name="Rounded Rectangle 12"/>
          <p:cNvSpPr/>
          <p:nvPr/>
        </p:nvSpPr>
        <p:spPr>
          <a:xfrm>
            <a:off x="548640" y="3383280"/>
            <a:ext cx="2377440" cy="1097280"/>
          </a:xfrm>
          <a:prstGeom prst="roundRect">
            <a:avLst>
              <a:gd name="adj" fmla="val 8000"/>
            </a:avLst>
          </a:prstGeom>
          <a:solidFill>
            <a:srgbClr val="E8EDF4"/>
          </a:solidFill>
          <a:ln w="12700">
            <a:solidFill>
              <a:srgbClr val="C9D0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3A5F"/>
                </a:solidFill>
                <a:latin typeface="Calibri"/>
              </a:rPr>
              <a:t>Restore</a:t>
            </a:r>
          </a:p>
          <a:p>
            <a:pPr algn="ctr"/>
            <a:r>
              <a:rPr sz="1100" b="0" i="0">
                <a:solidFill>
                  <a:srgbClr val="5B6675"/>
                </a:solidFill>
                <a:latin typeface="Calibri"/>
              </a:rPr>
              <a:t>real values back, unknown tokens listed</a:t>
            </a:r>
          </a:p>
        </p:txBody>
      </p:sp>
      <p:sp>
        <p:nvSpPr>
          <p:cNvPr id="14" name="Rounded Rectangle 13"/>
          <p:cNvSpPr/>
          <p:nvPr/>
        </p:nvSpPr>
        <p:spPr>
          <a:xfrm>
            <a:off x="9236354" y="5074920"/>
            <a:ext cx="2377440" cy="777240"/>
          </a:xfrm>
          <a:prstGeom prst="roundRect">
            <a:avLst>
              <a:gd name="adj" fmla="val 8000"/>
            </a:avLst>
          </a:prstGeom>
          <a:solidFill>
            <a:srgbClr val="E4F0E9"/>
          </a:solidFill>
          <a:ln w="12700">
            <a:solidFill>
              <a:srgbClr val="2E6B4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E6B4F"/>
                </a:solidFill>
                <a:latin typeface="Calibri"/>
              </a:rPr>
              <a:t>Mapping table</a:t>
            </a:r>
          </a:p>
          <a:p>
            <a:pPr algn="ctr"/>
            <a:r>
              <a:rPr sz="1100" b="0" i="0">
                <a:solidFill>
                  <a:srgbClr val="1B2430"/>
                </a:solidFill>
                <a:latin typeface="Calibri"/>
              </a:rPr>
              <a:t>session memory, never sent</a:t>
            </a:r>
          </a:p>
        </p:txBody>
      </p:sp>
      <p:cxnSp>
        <p:nvCxnSpPr>
          <p:cNvPr id="15" name="Connector 14"/>
          <p:cNvCxnSpPr/>
          <p:nvPr/>
        </p:nvCxnSpPr>
        <p:spPr>
          <a:xfrm>
            <a:off x="2962656" y="1965960"/>
            <a:ext cx="445312" cy="0"/>
          </a:xfrm>
          <a:prstGeom prst="line">
            <a:avLst/>
          </a:prstGeom>
          <a:ln w="22225">
            <a:solidFill>
              <a:srgbClr val="5B667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58560" y="1965960"/>
            <a:ext cx="445313" cy="0"/>
          </a:xfrm>
          <a:prstGeom prst="line">
            <a:avLst/>
          </a:prstGeom>
          <a:ln w="22225">
            <a:solidFill>
              <a:srgbClr val="5B667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754465" y="1965960"/>
            <a:ext cx="445313" cy="0"/>
          </a:xfrm>
          <a:prstGeom prst="line">
            <a:avLst/>
          </a:prstGeom>
          <a:ln w="22225">
            <a:solidFill>
              <a:srgbClr val="5B667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425074" y="2551176"/>
            <a:ext cx="0" cy="795528"/>
          </a:xfrm>
          <a:prstGeom prst="line">
            <a:avLst/>
          </a:prstGeom>
          <a:ln w="22225">
            <a:solidFill>
              <a:srgbClr val="5B6675"/>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8754465" y="3931920"/>
            <a:ext cx="445313" cy="0"/>
          </a:xfrm>
          <a:prstGeom prst="line">
            <a:avLst/>
          </a:prstGeom>
          <a:ln w="22225">
            <a:solidFill>
              <a:srgbClr val="5B667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858560" y="3931920"/>
            <a:ext cx="445313" cy="0"/>
          </a:xfrm>
          <a:prstGeom prst="line">
            <a:avLst/>
          </a:prstGeom>
          <a:ln w="22225">
            <a:solidFill>
              <a:srgbClr val="8C5A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962656" y="3931920"/>
            <a:ext cx="445312" cy="0"/>
          </a:xfrm>
          <a:prstGeom prst="line">
            <a:avLst/>
          </a:prstGeom>
          <a:ln w="22225">
            <a:solidFill>
              <a:srgbClr val="8C5A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425074" y="4517136"/>
            <a:ext cx="0" cy="521208"/>
          </a:xfrm>
          <a:prstGeom prst="line">
            <a:avLst/>
          </a:prstGeom>
          <a:ln w="22225">
            <a:solidFill>
              <a:srgbClr val="2E6B4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737360" y="5463540"/>
            <a:ext cx="7462418" cy="0"/>
          </a:xfrm>
          <a:prstGeom prst="line">
            <a:avLst/>
          </a:prstGeom>
          <a:ln w="22225">
            <a:solidFill>
              <a:srgbClr val="2E6B4F"/>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737360" y="4517136"/>
            <a:ext cx="0" cy="946404"/>
          </a:xfrm>
          <a:prstGeom prst="line">
            <a:avLst/>
          </a:prstGeom>
          <a:ln w="22225">
            <a:solidFill>
              <a:srgbClr val="2E6B4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44544" y="5134355"/>
            <a:ext cx="5273344" cy="274320"/>
          </a:xfrm>
          <a:prstGeom prst="rect">
            <a:avLst/>
          </a:prstGeom>
          <a:noFill/>
        </p:spPr>
        <p:txBody>
          <a:bodyPr wrap="square" lIns="0" rIns="0" tIns="0" bIns="0" anchor="t">
            <a:spAutoFit/>
          </a:bodyPr>
          <a:lstStyle/>
          <a:p>
            <a:pPr algn="ctr">
              <a:spcAft>
                <a:spcPts val="600"/>
              </a:spcAft>
            </a:pPr>
            <a:r>
              <a:rPr sz="1100" b="0" i="1">
                <a:solidFill>
                  <a:srgbClr val="2E6B4F"/>
                </a:solidFill>
                <a:latin typeface="Calibri"/>
              </a:rPr>
              <a:t>The mapping table stays on the computer: Restore reads it, the AI tool never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Hybrid detection, with explainable scores</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6 / 14</a:t>
            </a:r>
          </a:p>
        </p:txBody>
      </p:sp>
      <p:sp>
        <p:nvSpPr>
          <p:cNvPr id="6" name="Rounded Rectangle 5"/>
          <p:cNvSpPr/>
          <p:nvPr/>
        </p:nvSpPr>
        <p:spPr>
          <a:xfrm>
            <a:off x="548640" y="1463040"/>
            <a:ext cx="6675120" cy="4480560"/>
          </a:xfrm>
          <a:prstGeom prst="roundRect">
            <a:avLst>
              <a:gd name="adj" fmla="val 4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645920"/>
            <a:ext cx="6217920" cy="365760"/>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Confidence scale (excerpt of D-07)</a:t>
            </a:r>
          </a:p>
        </p:txBody>
      </p:sp>
      <p:sp>
        <p:nvSpPr>
          <p:cNvPr id="8" name="TextBox 7"/>
          <p:cNvSpPr txBox="1"/>
          <p:nvPr/>
        </p:nvSpPr>
        <p:spPr>
          <a:xfrm>
            <a:off x="822960" y="2148840"/>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Valid control key (IBAN, NIR, SIREN, SIRET), manual addition</a:t>
            </a:r>
          </a:p>
        </p:txBody>
      </p:sp>
      <p:sp>
        <p:nvSpPr>
          <p:cNvPr id="9" name="Rounded Rectangle 8"/>
          <p:cNvSpPr/>
          <p:nvPr/>
        </p:nvSpPr>
        <p:spPr>
          <a:xfrm>
            <a:off x="6126480" y="2185416"/>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1.00</a:t>
            </a:r>
          </a:p>
        </p:txBody>
      </p:sp>
      <p:sp>
        <p:nvSpPr>
          <p:cNvPr id="10" name="TextBox 9"/>
          <p:cNvSpPr txBox="1"/>
          <p:nvPr/>
        </p:nvSpPr>
        <p:spPr>
          <a:xfrm>
            <a:off x="822960" y="2624328"/>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Email address</a:t>
            </a:r>
          </a:p>
        </p:txBody>
      </p:sp>
      <p:sp>
        <p:nvSpPr>
          <p:cNvPr id="11" name="Rounded Rectangle 10"/>
          <p:cNvSpPr/>
          <p:nvPr/>
        </p:nvSpPr>
        <p:spPr>
          <a:xfrm>
            <a:off x="6126480" y="2660904"/>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0.95</a:t>
            </a:r>
          </a:p>
        </p:txBody>
      </p:sp>
      <p:sp>
        <p:nvSpPr>
          <p:cNvPr id="12" name="TextBox 11"/>
          <p:cNvSpPr txBox="1"/>
          <p:nvPr/>
        </p:nvSpPr>
        <p:spPr>
          <a:xfrm>
            <a:off x="822960" y="3099816"/>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Labelled case number, birth date, internal identifier</a:t>
            </a:r>
          </a:p>
        </p:txBody>
      </p:sp>
      <p:sp>
        <p:nvSpPr>
          <p:cNvPr id="13" name="Rounded Rectangle 12"/>
          <p:cNvSpPr/>
          <p:nvPr/>
        </p:nvSpPr>
        <p:spPr>
          <a:xfrm>
            <a:off x="6126480" y="3136392"/>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0.90</a:t>
            </a:r>
          </a:p>
        </p:txBody>
      </p:sp>
      <p:sp>
        <p:nvSpPr>
          <p:cNvPr id="14" name="TextBox 13"/>
          <p:cNvSpPr txBox="1"/>
          <p:nvPr/>
        </p:nvSpPr>
        <p:spPr>
          <a:xfrm>
            <a:off x="822960" y="3575304"/>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spaCy named entity</a:t>
            </a:r>
          </a:p>
        </p:txBody>
      </p:sp>
      <p:sp>
        <p:nvSpPr>
          <p:cNvPr id="15" name="Rounded Rectangle 14"/>
          <p:cNvSpPr/>
          <p:nvPr/>
        </p:nvSpPr>
        <p:spPr>
          <a:xfrm>
            <a:off x="6126480" y="3611880"/>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0.85</a:t>
            </a:r>
          </a:p>
        </p:txBody>
      </p:sp>
      <p:sp>
        <p:nvSpPr>
          <p:cNvPr id="16" name="TextBox 15"/>
          <p:cNvSpPr txBox="1"/>
          <p:nvPr/>
        </p:nvSpPr>
        <p:spPr>
          <a:xfrm>
            <a:off x="822960" y="4050791"/>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Title followed by a name</a:t>
            </a:r>
          </a:p>
        </p:txBody>
      </p:sp>
      <p:sp>
        <p:nvSpPr>
          <p:cNvPr id="17" name="Rounded Rectangle 16"/>
          <p:cNvSpPr/>
          <p:nvPr/>
        </p:nvSpPr>
        <p:spPr>
          <a:xfrm>
            <a:off x="6126480" y="4087368"/>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0.80</a:t>
            </a:r>
          </a:p>
        </p:txBody>
      </p:sp>
      <p:sp>
        <p:nvSpPr>
          <p:cNvPr id="18" name="TextBox 17"/>
          <p:cNvSpPr txBox="1"/>
          <p:nvPr/>
        </p:nvSpPr>
        <p:spPr>
          <a:xfrm>
            <a:off x="822960" y="4526280"/>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Name pattern, complete address</a:t>
            </a:r>
          </a:p>
        </p:txBody>
      </p:sp>
      <p:sp>
        <p:nvSpPr>
          <p:cNvPr id="19" name="Rounded Rectangle 18"/>
          <p:cNvSpPr/>
          <p:nvPr/>
        </p:nvSpPr>
        <p:spPr>
          <a:xfrm>
            <a:off x="6126480" y="4562856"/>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0.70</a:t>
            </a:r>
          </a:p>
        </p:txBody>
      </p:sp>
      <p:sp>
        <p:nvSpPr>
          <p:cNvPr id="20" name="TextBox 19"/>
          <p:cNvSpPr txBox="1"/>
          <p:nvPr/>
        </p:nvSpPr>
        <p:spPr>
          <a:xfrm>
            <a:off x="822960" y="5001768"/>
            <a:ext cx="5120640" cy="411480"/>
          </a:xfrm>
          <a:prstGeom prst="rect">
            <a:avLst/>
          </a:prstGeom>
          <a:noFill/>
        </p:spPr>
        <p:txBody>
          <a:bodyPr wrap="square" lIns="0" rIns="0" tIns="0" bIns="0" anchor="ctr">
            <a:spAutoFit/>
          </a:bodyPr>
          <a:lstStyle/>
          <a:p>
            <a:pPr algn="l">
              <a:spcAft>
                <a:spcPts val="600"/>
              </a:spcAft>
            </a:pPr>
            <a:r>
              <a:rPr sz="1400" b="0" i="0">
                <a:solidFill>
                  <a:srgbClr val="1B2430"/>
                </a:solidFill>
                <a:latin typeface="Calibri"/>
              </a:rPr>
              <a:t>Wrong key on a well-formed IBAN or NIR (likely typo)</a:t>
            </a:r>
          </a:p>
        </p:txBody>
      </p:sp>
      <p:sp>
        <p:nvSpPr>
          <p:cNvPr id="21" name="Rounded Rectangle 20"/>
          <p:cNvSpPr/>
          <p:nvPr/>
        </p:nvSpPr>
        <p:spPr>
          <a:xfrm>
            <a:off x="6126480" y="5038344"/>
            <a:ext cx="82296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300" b="1" i="0">
                <a:solidFill>
                  <a:srgbClr val="FFFFFF"/>
                </a:solidFill>
                <a:latin typeface="Calibri"/>
              </a:rPr>
              <a:t>0.40</a:t>
            </a:r>
          </a:p>
        </p:txBody>
      </p:sp>
      <p:sp>
        <p:nvSpPr>
          <p:cNvPr id="22" name="TextBox 21"/>
          <p:cNvSpPr txBox="1"/>
          <p:nvPr/>
        </p:nvSpPr>
        <p:spPr>
          <a:xfrm>
            <a:off x="822960" y="5486400"/>
            <a:ext cx="6217920" cy="365760"/>
          </a:xfrm>
          <a:prstGeom prst="rect">
            <a:avLst/>
          </a:prstGeom>
          <a:noFill/>
        </p:spPr>
        <p:txBody>
          <a:bodyPr wrap="square" lIns="0" rIns="0" tIns="0" bIns="0" anchor="t">
            <a:spAutoFit/>
          </a:bodyPr>
          <a:lstStyle/>
          <a:p>
            <a:pPr algn="l">
              <a:spcAft>
                <a:spcPts val="600"/>
              </a:spcAft>
            </a:pPr>
            <a:r>
              <a:rPr sz="1300" b="0" i="1">
                <a:solidFill>
                  <a:srgbClr val="5B6675"/>
                </a:solidFill>
                <a:latin typeface="Calibri"/>
              </a:rPr>
              <a:t>Kept if score reaches the threshold 0.30, chosen by F2 on dev.</a:t>
            </a:r>
          </a:p>
        </p:txBody>
      </p:sp>
      <p:sp>
        <p:nvSpPr>
          <p:cNvPr id="23" name="TextBox 22"/>
          <p:cNvSpPr txBox="1"/>
          <p:nvPr/>
        </p:nvSpPr>
        <p:spPr>
          <a:xfrm>
            <a:off x="7680960" y="1463040"/>
            <a:ext cx="3931920" cy="457200"/>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G7 challenge recall, by configuration</a:t>
            </a:r>
          </a:p>
        </p:txBody>
      </p:sp>
      <p:sp>
        <p:nvSpPr>
          <p:cNvPr id="24" name="TextBox 23"/>
          <p:cNvSpPr txBox="1"/>
          <p:nvPr/>
        </p:nvSpPr>
        <p:spPr>
          <a:xfrm>
            <a:off x="7680960" y="2011680"/>
            <a:ext cx="1737360" cy="914400"/>
          </a:xfrm>
          <a:prstGeom prst="rect">
            <a:avLst/>
          </a:prstGeom>
          <a:noFill/>
        </p:spPr>
        <p:txBody>
          <a:bodyPr wrap="square" lIns="0" rIns="0" tIns="0" bIns="0" anchor="ctr">
            <a:spAutoFit/>
          </a:bodyPr>
          <a:lstStyle/>
          <a:p>
            <a:pPr algn="l">
              <a:spcAft>
                <a:spcPts val="600"/>
              </a:spcAft>
            </a:pPr>
            <a:r>
              <a:rPr sz="4400" b="1" i="0">
                <a:solidFill>
                  <a:srgbClr val="5B6675"/>
                </a:solidFill>
                <a:latin typeface="Cambria"/>
              </a:rPr>
              <a:t>0.69</a:t>
            </a:r>
          </a:p>
        </p:txBody>
      </p:sp>
      <p:sp>
        <p:nvSpPr>
          <p:cNvPr id="25" name="TextBox 24"/>
          <p:cNvSpPr txBox="1"/>
          <p:nvPr/>
        </p:nvSpPr>
        <p:spPr>
          <a:xfrm>
            <a:off x="9464040" y="2011680"/>
            <a:ext cx="2194560" cy="914400"/>
          </a:xfrm>
          <a:prstGeom prst="rect">
            <a:avLst/>
          </a:prstGeom>
          <a:noFill/>
        </p:spPr>
        <p:txBody>
          <a:bodyPr wrap="square" lIns="0" rIns="0" tIns="0" bIns="0" anchor="ctr">
            <a:spAutoFit/>
          </a:bodyPr>
          <a:lstStyle/>
          <a:p>
            <a:pPr algn="l">
              <a:spcAft>
                <a:spcPts val="600"/>
              </a:spcAft>
            </a:pPr>
            <a:r>
              <a:rPr sz="1500" b="0" i="0">
                <a:solidFill>
                  <a:srgbClr val="1B2430"/>
                </a:solidFill>
                <a:latin typeface="Calibri"/>
              </a:rPr>
              <a:t>patterns only</a:t>
            </a:r>
          </a:p>
        </p:txBody>
      </p:sp>
      <p:sp>
        <p:nvSpPr>
          <p:cNvPr id="26" name="TextBox 25"/>
          <p:cNvSpPr txBox="1"/>
          <p:nvPr/>
        </p:nvSpPr>
        <p:spPr>
          <a:xfrm>
            <a:off x="7680960" y="3246120"/>
            <a:ext cx="1737360" cy="914400"/>
          </a:xfrm>
          <a:prstGeom prst="rect">
            <a:avLst/>
          </a:prstGeom>
          <a:noFill/>
        </p:spPr>
        <p:txBody>
          <a:bodyPr wrap="square" lIns="0" rIns="0" tIns="0" bIns="0" anchor="ctr">
            <a:spAutoFit/>
          </a:bodyPr>
          <a:lstStyle/>
          <a:p>
            <a:pPr algn="l">
              <a:spcAft>
                <a:spcPts val="600"/>
              </a:spcAft>
            </a:pPr>
            <a:r>
              <a:rPr sz="4400" b="1" i="0">
                <a:solidFill>
                  <a:srgbClr val="5B6675"/>
                </a:solidFill>
                <a:latin typeface="Cambria"/>
              </a:rPr>
              <a:t>0.46</a:t>
            </a:r>
          </a:p>
        </p:txBody>
      </p:sp>
      <p:sp>
        <p:nvSpPr>
          <p:cNvPr id="27" name="TextBox 26"/>
          <p:cNvSpPr txBox="1"/>
          <p:nvPr/>
        </p:nvSpPr>
        <p:spPr>
          <a:xfrm>
            <a:off x="9464040" y="3246120"/>
            <a:ext cx="2194560" cy="914400"/>
          </a:xfrm>
          <a:prstGeom prst="rect">
            <a:avLst/>
          </a:prstGeom>
          <a:noFill/>
        </p:spPr>
        <p:txBody>
          <a:bodyPr wrap="square" lIns="0" rIns="0" tIns="0" bIns="0" anchor="ctr">
            <a:spAutoFit/>
          </a:bodyPr>
          <a:lstStyle/>
          <a:p>
            <a:pPr algn="l">
              <a:spcAft>
                <a:spcPts val="600"/>
              </a:spcAft>
            </a:pPr>
            <a:r>
              <a:rPr sz="1500" b="0" i="0">
                <a:solidFill>
                  <a:srgbClr val="1B2430"/>
                </a:solidFill>
                <a:latin typeface="Calibri"/>
              </a:rPr>
              <a:t>spaCy only</a:t>
            </a:r>
          </a:p>
        </p:txBody>
      </p:sp>
      <p:sp>
        <p:nvSpPr>
          <p:cNvPr id="28" name="TextBox 27"/>
          <p:cNvSpPr txBox="1"/>
          <p:nvPr/>
        </p:nvSpPr>
        <p:spPr>
          <a:xfrm>
            <a:off x="7680960" y="4480560"/>
            <a:ext cx="1737360" cy="914400"/>
          </a:xfrm>
          <a:prstGeom prst="rect">
            <a:avLst/>
          </a:prstGeom>
          <a:noFill/>
        </p:spPr>
        <p:txBody>
          <a:bodyPr wrap="square" lIns="0" rIns="0" tIns="0" bIns="0" anchor="ctr">
            <a:spAutoFit/>
          </a:bodyPr>
          <a:lstStyle/>
          <a:p>
            <a:pPr algn="l">
              <a:spcAft>
                <a:spcPts val="600"/>
              </a:spcAft>
            </a:pPr>
            <a:r>
              <a:rPr sz="4400" b="1" i="0">
                <a:solidFill>
                  <a:srgbClr val="0E7490"/>
                </a:solidFill>
                <a:latin typeface="Cambria"/>
              </a:rPr>
              <a:t>0.84</a:t>
            </a:r>
          </a:p>
        </p:txBody>
      </p:sp>
      <p:sp>
        <p:nvSpPr>
          <p:cNvPr id="29" name="TextBox 28"/>
          <p:cNvSpPr txBox="1"/>
          <p:nvPr/>
        </p:nvSpPr>
        <p:spPr>
          <a:xfrm>
            <a:off x="9464040" y="4480560"/>
            <a:ext cx="2194560" cy="914400"/>
          </a:xfrm>
          <a:prstGeom prst="rect">
            <a:avLst/>
          </a:prstGeom>
          <a:noFill/>
        </p:spPr>
        <p:txBody>
          <a:bodyPr wrap="square" lIns="0" rIns="0" tIns="0" bIns="0" anchor="ctr">
            <a:spAutoFit/>
          </a:bodyPr>
          <a:lstStyle/>
          <a:p>
            <a:pPr algn="l">
              <a:spcAft>
                <a:spcPts val="600"/>
              </a:spcAft>
            </a:pPr>
            <a:r>
              <a:rPr sz="1500" b="0" i="0">
                <a:solidFill>
                  <a:srgbClr val="1B2430"/>
                </a:solidFill>
                <a:latin typeface="Calibri"/>
              </a:rPr>
              <a:t>hybrid with propagation</a:t>
            </a:r>
          </a:p>
        </p:txBody>
      </p:sp>
      <p:sp>
        <p:nvSpPr>
          <p:cNvPr id="30" name="TextBox 29"/>
          <p:cNvSpPr txBox="1"/>
          <p:nvPr/>
        </p:nvSpPr>
        <p:spPr>
          <a:xfrm>
            <a:off x="7680960" y="5715000"/>
            <a:ext cx="3931920" cy="27432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Source: results/summary.md, challenge split, threshold 0.30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The human decides; the outbound check verifies</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7 / 14</a:t>
            </a:r>
          </a:p>
        </p:txBody>
      </p:sp>
      <p:pic>
        <p:nvPicPr>
          <p:cNvPr id="6" name="Picture 5" descr="Review step: highlighted values of the fictitious sample case"/>
          <p:cNvPicPr>
            <a:picLocks noChangeAspect="1"/>
          </p:cNvPicPr>
          <p:nvPr/>
        </p:nvPicPr>
        <p:blipFill>
          <a:blip r:embed="rId4"/>
          <a:stretch>
            <a:fillRect/>
          </a:stretch>
        </p:blipFill>
        <p:spPr>
          <a:xfrm>
            <a:off x="548640" y="1371600"/>
            <a:ext cx="4754880" cy="2703894"/>
          </a:xfrm>
          <a:prstGeom prst="rect">
            <a:avLst/>
          </a:prstGeom>
        </p:spPr>
      </p:pic>
      <p:pic>
        <p:nvPicPr>
          <p:cNvPr id="7" name="Picture 6" descr="Final check: a surname left in the instruction raises an alert"/>
          <p:cNvPicPr>
            <a:picLocks noChangeAspect="1"/>
          </p:cNvPicPr>
          <p:nvPr/>
        </p:nvPicPr>
        <p:blipFill>
          <a:blip r:embed="rId5"/>
          <a:stretch>
            <a:fillRect/>
          </a:stretch>
        </p:blipFill>
        <p:spPr>
          <a:xfrm>
            <a:off x="548640" y="4160520"/>
            <a:ext cx="4754880" cy="1976308"/>
          </a:xfrm>
          <a:prstGeom prst="rect">
            <a:avLst/>
          </a:prstGeom>
        </p:spPr>
      </p:pic>
      <p:sp>
        <p:nvSpPr>
          <p:cNvPr id="8" name="TextBox 7"/>
          <p:cNvSpPr txBox="1"/>
          <p:nvPr/>
        </p:nvSpPr>
        <p:spPr>
          <a:xfrm>
            <a:off x="5760720" y="1463040"/>
            <a:ext cx="5852160" cy="4572000"/>
          </a:xfrm>
          <a:prstGeom prst="rect">
            <a:avLst/>
          </a:prstGeom>
          <a:noFill/>
        </p:spPr>
        <p:txBody>
          <a:bodyPr wrap="square" lIns="0" rIns="0" tIns="0" bIns="0" anchor="t">
            <a:spAutoFit/>
          </a:bodyPr>
          <a:lstStyle/>
          <a:p>
            <a:pPr algn="l" marL="201168" indent="-201168">
              <a:spcAft>
                <a:spcPts val="1200"/>
              </a:spcAft>
              <a:buFont typeface="Arial"/>
              <a:buChar char="•"/>
            </a:pPr>
            <a:r>
              <a:rPr sz="1600" b="1" i="0">
                <a:solidFill>
                  <a:srgbClr val="1B2430"/>
                </a:solidFill>
                <a:latin typeface="Calibri"/>
              </a:rPr>
              <a:t>Colour and text label </a:t>
            </a:r>
            <a:r>
              <a:rPr sz="1600" b="0" i="0">
                <a:solidFill>
                  <a:srgbClr val="1B2430"/>
                </a:solidFill>
                <a:latin typeface="Calibri"/>
              </a:rPr>
              <a:t>on every highlighted value; colour is never the only signal.</a:t>
            </a:r>
          </a:p>
          <a:p>
            <a:pPr algn="l" marL="201168" indent="-201168">
              <a:spcAft>
                <a:spcPts val="1200"/>
              </a:spcAft>
              <a:buFont typeface="Arial"/>
              <a:buChar char="•"/>
            </a:pPr>
            <a:r>
              <a:rPr sz="1600" b="1" i="0">
                <a:solidFill>
                  <a:srgbClr val="1B2430"/>
                </a:solidFill>
                <a:latin typeface="Calibri"/>
              </a:rPr>
              <a:t>Keep, reject, retype or add: </a:t>
            </a:r>
            <a:r>
              <a:rPr sz="1600" b="0" i="0">
                <a:solidFill>
                  <a:srgbClr val="1B2430"/>
                </a:solidFill>
                <a:latin typeface="Calibri"/>
              </a:rPr>
              <a:t>no proposal is accepted by default.</a:t>
            </a:r>
          </a:p>
          <a:p>
            <a:pPr algn="l" marL="201168" indent="-201168">
              <a:spcAft>
                <a:spcPts val="1200"/>
              </a:spcAft>
              <a:buFont typeface="Arial"/>
              <a:buChar char="•"/>
            </a:pPr>
            <a:r>
              <a:rPr sz="1600" b="1" i="0">
                <a:solidFill>
                  <a:srgbClr val="1B2430"/>
                </a:solidFill>
                <a:latin typeface="Calibri"/>
              </a:rPr>
              <a:t>Low-confidence card </a:t>
            </a:r>
            <a:r>
              <a:rPr sz="1600" b="0" i="0">
                <a:solidFill>
                  <a:srgbClr val="1B2430"/>
                </a:solidFill>
                <a:latin typeface="Calibri"/>
              </a:rPr>
              <a:t>lists scores under 0.75 to read first.</a:t>
            </a:r>
          </a:p>
          <a:p>
            <a:pPr algn="l" marL="201168" indent="-201168">
              <a:spcAft>
                <a:spcPts val="1200"/>
              </a:spcAft>
              <a:buFont typeface="Arial"/>
              <a:buChar char="•"/>
            </a:pPr>
            <a:r>
              <a:rPr sz="1600" b="1" i="0">
                <a:solidFill>
                  <a:srgbClr val="1B2430"/>
                </a:solidFill>
                <a:latin typeface="Calibri"/>
              </a:rPr>
              <a:t>Outbound check </a:t>
            </a:r>
            <a:r>
              <a:rPr sz="1600" b="0" i="0">
                <a:solidFill>
                  <a:srgbClr val="1B2430"/>
                </a:solidFill>
                <a:latin typeface="Calibri"/>
              </a:rPr>
              <a:t>re-reads the document and the instruction as one exact message.</a:t>
            </a:r>
          </a:p>
          <a:p>
            <a:pPr algn="l" marL="201168" indent="-201168">
              <a:spcAft>
                <a:spcPts val="1200"/>
              </a:spcAft>
              <a:buFont typeface="Arial"/>
              <a:buChar char="•"/>
            </a:pPr>
            <a:r>
              <a:rPr sz="1600" b="1" i="0">
                <a:solidFill>
                  <a:srgbClr val="1B2430"/>
                </a:solidFill>
                <a:latin typeface="Calibri"/>
              </a:rPr>
              <a:t>Any edit revokes </a:t>
            </a:r>
            <a:r>
              <a:rPr sz="1600" b="0" i="0">
                <a:solidFill>
                  <a:srgbClr val="1B2430"/>
                </a:solidFill>
                <a:latin typeface="Calibri"/>
              </a:rPr>
              <a:t>the check and the confirmation; the send function recomputes it.</a:t>
            </a:r>
          </a:p>
          <a:p>
            <a:pPr algn="l" marL="201168" indent="-201168">
              <a:spcAft>
                <a:spcPts val="1200"/>
              </a:spcAft>
              <a:buFont typeface="Arial"/>
              <a:buChar char="•"/>
            </a:pPr>
            <a:r>
              <a:rPr sz="1600" b="1" i="0">
                <a:solidFill>
                  <a:srgbClr val="1B2430"/>
                </a:solidFill>
                <a:latin typeface="Calibri"/>
              </a:rPr>
              <a:t>An alert masks nothing: </a:t>
            </a:r>
            <a:r>
              <a:rPr sz="1600" b="0" i="0">
                <a:solidFill>
                  <a:srgbClr val="1B2430"/>
                </a:solidFill>
                <a:latin typeface="Calibri"/>
              </a:rPr>
              <a:t>the lawyer masks or explicitly keeps the value.</a:t>
            </a:r>
          </a:p>
        </p:txBody>
      </p:sp>
      <p:sp>
        <p:nvSpPr>
          <p:cNvPr id="9" name="TextBox 8"/>
          <p:cNvSpPr txBox="1"/>
          <p:nvPr/>
        </p:nvSpPr>
        <p:spPr>
          <a:xfrm>
            <a:off x="548640" y="6172200"/>
            <a:ext cx="4754880" cy="18288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Fictitious sample case: Review (top), Final check alert (bottom)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What leaves the computer</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8 / 14</a:t>
            </a:r>
          </a:p>
        </p:txBody>
      </p:sp>
      <p:sp>
        <p:nvSpPr>
          <p:cNvPr id="6" name="Rounded Rectangle 5"/>
          <p:cNvSpPr/>
          <p:nvPr/>
        </p:nvSpPr>
        <p:spPr>
          <a:xfrm>
            <a:off x="548640" y="1417320"/>
            <a:ext cx="4206240" cy="3931920"/>
          </a:xfrm>
          <a:prstGeom prst="roundRect">
            <a:avLst>
              <a:gd name="adj" fmla="val 5000"/>
            </a:avLst>
          </a:prstGeom>
          <a:solidFill>
            <a:srgbClr val="E8EDF4"/>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7" name="TextBox 6"/>
          <p:cNvSpPr txBox="1"/>
          <p:nvPr/>
        </p:nvSpPr>
        <p:spPr>
          <a:xfrm>
            <a:off x="822959" y="1645920"/>
            <a:ext cx="3657599" cy="365760"/>
          </a:xfrm>
          <a:prstGeom prst="rect">
            <a:avLst/>
          </a:prstGeom>
          <a:noFill/>
        </p:spPr>
        <p:txBody>
          <a:bodyPr wrap="square" lIns="0" rIns="0" tIns="0" bIns="0" anchor="t">
            <a:spAutoFit/>
          </a:bodyPr>
          <a:lstStyle/>
          <a:p>
            <a:pPr algn="l">
              <a:spcAft>
                <a:spcPts val="600"/>
              </a:spcAft>
            </a:pPr>
            <a:r>
              <a:rPr sz="1800" b="1" i="0">
                <a:solidFill>
                  <a:srgbClr val="1F3A5F"/>
                </a:solidFill>
                <a:latin typeface="Cambria"/>
              </a:rPr>
              <a:t>Local installation</a:t>
            </a:r>
          </a:p>
        </p:txBody>
      </p:sp>
      <p:sp>
        <p:nvSpPr>
          <p:cNvPr id="8" name="TextBox 7"/>
          <p:cNvSpPr txBox="1"/>
          <p:nvPr/>
        </p:nvSpPr>
        <p:spPr>
          <a:xfrm>
            <a:off x="822959" y="2148840"/>
            <a:ext cx="3657599" cy="1737360"/>
          </a:xfrm>
          <a:prstGeom prst="rect">
            <a:avLst/>
          </a:prstGeom>
          <a:noFill/>
        </p:spPr>
        <p:txBody>
          <a:bodyPr wrap="square" lIns="0" rIns="0" tIns="0" bIns="0" anchor="t">
            <a:spAutoFit/>
          </a:bodyPr>
          <a:lstStyle/>
          <a:p>
            <a:pPr algn="l" marL="201168" indent="-201168">
              <a:spcAft>
                <a:spcPts val="600"/>
              </a:spcAft>
              <a:buFont typeface="Arial"/>
              <a:buChar char="•"/>
            </a:pPr>
            <a:r>
              <a:rPr sz="1300" b="0" i="0">
                <a:solidFill>
                  <a:srgbClr val="1B2430"/>
                </a:solidFill>
                <a:latin typeface="Calibri"/>
              </a:rPr>
              <a:t>Reading, detection, review, tokens, check and restoration</a:t>
            </a:r>
          </a:p>
          <a:p>
            <a:pPr algn="l" marL="201168" indent="-201168">
              <a:spcAft>
                <a:spcPts val="600"/>
              </a:spcAft>
              <a:buFont typeface="Arial"/>
              <a:buChar char="•"/>
            </a:pPr>
            <a:r>
              <a:rPr sz="1300" b="0" i="0">
                <a:solidFill>
                  <a:srgbClr val="1B2430"/>
                </a:solidFill>
                <a:latin typeface="Calibri"/>
              </a:rPr>
              <a:t>Streamlit on localhost only, usage statistics off</a:t>
            </a:r>
          </a:p>
          <a:p>
            <a:pPr algn="l" marL="201168" indent="-201168">
              <a:spcAft>
                <a:spcPts val="600"/>
              </a:spcAft>
              <a:buFont typeface="Arial"/>
              <a:buChar char="•"/>
            </a:pPr>
            <a:r>
              <a:rPr sz="1300" b="0" i="0">
                <a:solidFill>
                  <a:srgbClr val="1B2430"/>
                </a:solidFill>
                <a:latin typeface="Calibri"/>
              </a:rPr>
              <a:t>No network call while a document is processed</a:t>
            </a:r>
          </a:p>
        </p:txBody>
      </p:sp>
      <p:sp>
        <p:nvSpPr>
          <p:cNvPr id="9" name="Rounded Rectangle 8"/>
          <p:cNvSpPr/>
          <p:nvPr/>
        </p:nvSpPr>
        <p:spPr>
          <a:xfrm>
            <a:off x="822959" y="4114800"/>
            <a:ext cx="3657599" cy="960120"/>
          </a:xfrm>
          <a:prstGeom prst="roundRect">
            <a:avLst>
              <a:gd name="adj" fmla="val 8000"/>
            </a:avLst>
          </a:prstGeom>
          <a:solidFill>
            <a:srgbClr val="E4F0E9"/>
          </a:solidFill>
          <a:ln w="12700">
            <a:solidFill>
              <a:srgbClr val="2E6B4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2E6B4F"/>
                </a:solidFill>
                <a:latin typeface="Calibri"/>
              </a:rPr>
              <a:t>Mapping table</a:t>
            </a:r>
          </a:p>
          <a:p>
            <a:pPr algn="ctr"/>
            <a:r>
              <a:rPr sz="1100" b="0" i="0">
                <a:solidFill>
                  <a:srgbClr val="1B2430"/>
                </a:solidFill>
                <a:latin typeface="Calibri"/>
              </a:rPr>
              <a:t>token to real value, in session memory; never sent, never committed</a:t>
            </a:r>
          </a:p>
        </p:txBody>
      </p:sp>
      <p:sp>
        <p:nvSpPr>
          <p:cNvPr id="10" name="Rounded Rectangle 9"/>
          <p:cNvSpPr/>
          <p:nvPr/>
        </p:nvSpPr>
        <p:spPr>
          <a:xfrm>
            <a:off x="6126479" y="2103120"/>
            <a:ext cx="2560320" cy="2377440"/>
          </a:xfrm>
          <a:prstGeom prst="roundRect">
            <a:avLst>
              <a:gd name="adj" fmla="val 6000"/>
            </a:avLst>
          </a:prstGeom>
          <a:solidFill>
            <a:srgbClr val="FBF0DC"/>
          </a:solidFill>
          <a:ln w="12700">
            <a:solidFill>
              <a:srgbClr val="8C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8C5A00"/>
                </a:solidFill>
                <a:latin typeface="Calibri"/>
              </a:rPr>
              <a:t>External AI tool</a:t>
            </a:r>
          </a:p>
          <a:p>
            <a:pPr algn="ctr"/>
            <a:r>
              <a:rPr sz="1200" b="0" i="0">
                <a:solidFill>
                  <a:srgbClr val="1B2430"/>
                </a:solidFill>
                <a:latin typeface="Calibri"/>
              </a:rPr>
              <a:t>third party chosen by the lawyer</a:t>
            </a:r>
          </a:p>
          <a:p>
            <a:pPr algn="ctr"/>
            <a:r>
              <a:rPr sz="1100" b="0" i="0">
                <a:solidFill>
                  <a:srgbClr val="5B6675"/>
                </a:solidFill>
                <a:latin typeface="Calibri"/>
              </a:rPr>
              <a:t>copy and paste, or the optional Mistral connector after confirmation</a:t>
            </a:r>
          </a:p>
        </p:txBody>
      </p:sp>
      <p:cxnSp>
        <p:nvCxnSpPr>
          <p:cNvPr id="11" name="Connector 10"/>
          <p:cNvCxnSpPr/>
          <p:nvPr/>
        </p:nvCxnSpPr>
        <p:spPr>
          <a:xfrm>
            <a:off x="4800599" y="2743200"/>
            <a:ext cx="1280160" cy="0"/>
          </a:xfrm>
          <a:prstGeom prst="line">
            <a:avLst/>
          </a:prstGeom>
          <a:ln w="28575">
            <a:solidFill>
              <a:srgbClr val="8C5A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800599" y="3840480"/>
            <a:ext cx="1280160" cy="0"/>
          </a:xfrm>
          <a:prstGeom prst="line">
            <a:avLst/>
          </a:prstGeom>
          <a:ln w="2857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00599" y="2176272"/>
            <a:ext cx="1280160" cy="502920"/>
          </a:xfrm>
          <a:prstGeom prst="rect">
            <a:avLst/>
          </a:prstGeom>
          <a:noFill/>
        </p:spPr>
        <p:txBody>
          <a:bodyPr wrap="square" lIns="0" rIns="0" tIns="0" bIns="0" anchor="t">
            <a:spAutoFit/>
          </a:bodyPr>
          <a:lstStyle/>
          <a:p>
            <a:pPr algn="ctr">
              <a:spcAft>
                <a:spcPts val="600"/>
              </a:spcAft>
            </a:pPr>
            <a:r>
              <a:rPr sz="1100" b="1" i="0">
                <a:solidFill>
                  <a:srgbClr val="8C5A00"/>
                </a:solidFill>
                <a:latin typeface="Calibri"/>
              </a:rPr>
              <a:t>checked message only</a:t>
            </a:r>
          </a:p>
        </p:txBody>
      </p:sp>
      <p:sp>
        <p:nvSpPr>
          <p:cNvPr id="14" name="TextBox 13"/>
          <p:cNvSpPr txBox="1"/>
          <p:nvPr/>
        </p:nvSpPr>
        <p:spPr>
          <a:xfrm>
            <a:off x="4800599" y="3931920"/>
            <a:ext cx="1280160" cy="502920"/>
          </a:xfrm>
          <a:prstGeom prst="rect">
            <a:avLst/>
          </a:prstGeom>
          <a:noFill/>
        </p:spPr>
        <p:txBody>
          <a:bodyPr wrap="square" lIns="0" rIns="0" tIns="0" bIns="0" anchor="t">
            <a:spAutoFit/>
          </a:bodyPr>
          <a:lstStyle/>
          <a:p>
            <a:pPr algn="ctr">
              <a:spcAft>
                <a:spcPts val="600"/>
              </a:spcAft>
            </a:pPr>
            <a:r>
              <a:rPr sz="1100" b="1" i="0">
                <a:solidFill>
                  <a:srgbClr val="1F3A5F"/>
                </a:solidFill>
                <a:latin typeface="Calibri"/>
              </a:rPr>
              <a:t>answer with tokens</a:t>
            </a:r>
          </a:p>
        </p:txBody>
      </p:sp>
      <p:sp>
        <p:nvSpPr>
          <p:cNvPr id="15" name="Rounded Rectangle 14"/>
          <p:cNvSpPr/>
          <p:nvPr/>
        </p:nvSpPr>
        <p:spPr>
          <a:xfrm>
            <a:off x="9098280" y="1417320"/>
            <a:ext cx="2514600" cy="3931920"/>
          </a:xfrm>
          <a:prstGeom prst="roundRect">
            <a:avLst>
              <a:gd name="adj" fmla="val 5000"/>
            </a:avLst>
          </a:prstGeom>
          <a:solidFill>
            <a:srgbClr val="FFFFFF"/>
          </a:solidFill>
          <a:ln w="12700">
            <a:solidFill>
              <a:srgbClr val="5B66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16" name="TextBox 15"/>
          <p:cNvSpPr txBox="1"/>
          <p:nvPr/>
        </p:nvSpPr>
        <p:spPr>
          <a:xfrm>
            <a:off x="9326880" y="1645920"/>
            <a:ext cx="2057400" cy="365760"/>
          </a:xfrm>
          <a:prstGeom prst="rect">
            <a:avLst/>
          </a:prstGeom>
          <a:noFill/>
        </p:spPr>
        <p:txBody>
          <a:bodyPr wrap="square" lIns="0" rIns="0" tIns="0" bIns="0" anchor="t">
            <a:spAutoFit/>
          </a:bodyPr>
          <a:lstStyle/>
          <a:p>
            <a:pPr algn="l">
              <a:spcAft>
                <a:spcPts val="600"/>
              </a:spcAft>
            </a:pPr>
            <a:r>
              <a:rPr sz="1800" b="1" i="0">
                <a:solidFill>
                  <a:srgbClr val="1B2430"/>
                </a:solidFill>
                <a:latin typeface="Cambria"/>
              </a:rPr>
              <a:t>Public demo</a:t>
            </a:r>
          </a:p>
        </p:txBody>
      </p:sp>
      <p:sp>
        <p:nvSpPr>
          <p:cNvPr id="17" name="TextBox 16"/>
          <p:cNvSpPr txBox="1"/>
          <p:nvPr/>
        </p:nvSpPr>
        <p:spPr>
          <a:xfrm>
            <a:off x="9326880" y="2148840"/>
            <a:ext cx="2057400" cy="3017520"/>
          </a:xfrm>
          <a:prstGeom prst="rect">
            <a:avLst/>
          </a:prstGeom>
          <a:noFill/>
        </p:spPr>
        <p:txBody>
          <a:bodyPr wrap="square" lIns="0" rIns="0" tIns="0" bIns="0" anchor="t">
            <a:spAutoFit/>
          </a:bodyPr>
          <a:lstStyle/>
          <a:p>
            <a:pPr algn="l" marL="201168" indent="-201168">
              <a:spcAft>
                <a:spcPts val="600"/>
              </a:spcAft>
              <a:buFont typeface="Arial"/>
              <a:buChar char="•"/>
            </a:pPr>
            <a:r>
              <a:rPr sz="1300" b="0" i="0">
                <a:solidFill>
                  <a:srgbClr val="1B2430"/>
                </a:solidFill>
                <a:latin typeface="Calibri"/>
              </a:rPr>
              <a:t>Separate cloud deployment</a:t>
            </a:r>
          </a:p>
          <a:p>
            <a:pPr algn="l" marL="201168" indent="-201168">
              <a:spcAft>
                <a:spcPts val="600"/>
              </a:spcAft>
              <a:buFont typeface="Arial"/>
              <a:buChar char="•"/>
            </a:pPr>
            <a:r>
              <a:rPr sz="1300" b="0" i="0">
                <a:solidFill>
                  <a:srgbClr val="1B2430"/>
                </a:solidFill>
                <a:latin typeface="Calibri"/>
              </a:rPr>
              <a:t>Same Standard code on the host's server</a:t>
            </a:r>
          </a:p>
          <a:p>
            <a:pPr algn="l" marL="201168" indent="-201168">
              <a:spcAft>
                <a:spcPts val="600"/>
              </a:spcAft>
              <a:buFont typeface="Arial"/>
              <a:buChar char="•"/>
            </a:pPr>
            <a:r>
              <a:rPr sz="1300" b="0" i="0">
                <a:solidFill>
                  <a:srgbClr val="1B2430"/>
                </a:solidFill>
                <a:latin typeface="Calibri"/>
              </a:rPr>
              <a:t>Fictitious data only</a:t>
            </a:r>
          </a:p>
          <a:p>
            <a:pPr algn="l" marL="201168" indent="-201168">
              <a:spcAft>
                <a:spcPts val="600"/>
              </a:spcAft>
              <a:buFont typeface="Arial"/>
              <a:buChar char="•"/>
            </a:pPr>
            <a:r>
              <a:rPr sz="1300" b="0" i="0">
                <a:solidFill>
                  <a:srgbClr val="1B2430"/>
                </a:solidFill>
                <a:latin typeface="Calibri"/>
              </a:rPr>
              <a:t>Enhanced profiles refused</a:t>
            </a:r>
          </a:p>
        </p:txBody>
      </p:sp>
      <p:sp>
        <p:nvSpPr>
          <p:cNvPr id="18" name="TextBox 17"/>
          <p:cNvSpPr txBox="1"/>
          <p:nvPr/>
        </p:nvSpPr>
        <p:spPr>
          <a:xfrm>
            <a:off x="548640" y="5623560"/>
            <a:ext cx="11064240" cy="365760"/>
          </a:xfrm>
          <a:prstGeom prst="rect">
            <a:avLst/>
          </a:prstGeom>
          <a:noFill/>
        </p:spPr>
        <p:txBody>
          <a:bodyPr wrap="square" lIns="0" rIns="0" tIns="0" bIns="0" anchor="t">
            <a:spAutoFit/>
          </a:bodyPr>
          <a:lstStyle/>
          <a:p>
            <a:pPr algn="l">
              <a:spcAft>
                <a:spcPts val="600"/>
              </a:spcAft>
            </a:pPr>
            <a:r>
              <a:rPr sz="1300" b="0" i="0">
                <a:solidFill>
                  <a:srgbClr val="5B6675"/>
                </a:solidFill>
                <a:latin typeface="Calibri"/>
              </a:rPr>
              <a:t>Installing packages or preparing optional models uses the network, outside the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How we measured</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9 / 14</a:t>
            </a:r>
          </a:p>
        </p:txBody>
      </p:sp>
      <p:graphicFrame>
        <p:nvGraphicFramePr>
          <p:cNvPr id="6" name="Table 5"/>
          <p:cNvGraphicFramePr>
            <a:graphicFrameLocks noGrp="1"/>
          </p:cNvGraphicFramePr>
          <p:nvPr/>
        </p:nvGraphicFramePr>
        <p:xfrm>
          <a:off x="548640" y="1463040"/>
          <a:ext cx="6309360" cy="3291840"/>
        </p:xfrm>
        <a:graphic>
          <a:graphicData uri="http://schemas.openxmlformats.org/drawingml/2006/table">
            <a:tbl>
              <a:tblPr firstRow="1" bandRow="1">
                <a:tableStyleId>{5C22544A-7EE6-4342-B048-85BDC9FD1C3A}</a:tableStyleId>
              </a:tblPr>
              <a:tblGrid>
                <a:gridCol w="2377440"/>
                <a:gridCol w="822960"/>
                <a:gridCol w="3108960"/>
              </a:tblGrid>
              <a:tr h="548640">
                <a:tc>
                  <a:txBody>
                    <a:bodyPr/>
                    <a:lstStyle/>
                    <a:p>
                      <a:r>
                        <a:rPr sz="1400" b="1">
                          <a:solidFill>
                            <a:srgbClr val="FFFFFF"/>
                          </a:solidFill>
                          <a:latin typeface="Calibri"/>
                        </a:rPr>
                        <a:t>Set</a:t>
                      </a:r>
                    </a:p>
                  </a:txBody>
                  <a:tcPr>
                    <a:solidFill>
                      <a:srgbClr val="1F3A5F"/>
                    </a:solidFill>
                  </a:tcPr>
                </a:tc>
                <a:tc>
                  <a:txBody>
                    <a:bodyPr/>
                    <a:lstStyle/>
                    <a:p>
                      <a:r>
                        <a:rPr sz="1400" b="1">
                          <a:solidFill>
                            <a:srgbClr val="FFFFFF"/>
                          </a:solidFill>
                          <a:latin typeface="Calibri"/>
                        </a:rPr>
                        <a:t>Docs</a:t>
                      </a:r>
                    </a:p>
                  </a:txBody>
                  <a:tcPr>
                    <a:solidFill>
                      <a:srgbClr val="1F3A5F"/>
                    </a:solidFill>
                  </a:tcPr>
                </a:tc>
                <a:tc>
                  <a:txBody>
                    <a:bodyPr/>
                    <a:lstStyle/>
                    <a:p>
                      <a:r>
                        <a:rPr sz="1400" b="1">
                          <a:solidFill>
                            <a:srgbClr val="FFFFFF"/>
                          </a:solidFill>
                          <a:latin typeface="Calibri"/>
                        </a:rPr>
                        <a:t>Role</a:t>
                      </a:r>
                    </a:p>
                  </a:txBody>
                  <a:tcPr>
                    <a:solidFill>
                      <a:srgbClr val="1F3A5F"/>
                    </a:solidFill>
                  </a:tcPr>
                </a:tc>
              </a:tr>
              <a:tr h="548640">
                <a:tc>
                  <a:txBody>
                    <a:bodyPr/>
                    <a:lstStyle/>
                    <a:p>
                      <a:r>
                        <a:rPr sz="1400" b="0">
                          <a:solidFill>
                            <a:srgbClr val="1B2430"/>
                          </a:solidFill>
                          <a:latin typeface="Calibri"/>
                        </a:rPr>
                        <a:t>French dev</a:t>
                      </a:r>
                    </a:p>
                  </a:txBody>
                  <a:tcPr>
                    <a:solidFill>
                      <a:srgbClr val="F6F7F9"/>
                    </a:solidFill>
                  </a:tcPr>
                </a:tc>
                <a:tc>
                  <a:txBody>
                    <a:bodyPr/>
                    <a:lstStyle/>
                    <a:p>
                      <a:r>
                        <a:rPr sz="1400" b="0">
                          <a:solidFill>
                            <a:srgbClr val="1B2430"/>
                          </a:solidFill>
                          <a:latin typeface="Calibri"/>
                        </a:rPr>
                        <a:t>20</a:t>
                      </a:r>
                    </a:p>
                  </a:txBody>
                  <a:tcPr>
                    <a:solidFill>
                      <a:srgbClr val="F6F7F9"/>
                    </a:solidFill>
                  </a:tcPr>
                </a:tc>
                <a:tc>
                  <a:txBody>
                    <a:bodyPr/>
                    <a:lstStyle/>
                    <a:p>
                      <a:r>
                        <a:rPr sz="1400" b="0">
                          <a:solidFill>
                            <a:srgbClr val="1B2430"/>
                          </a:solidFill>
                          <a:latin typeface="Calibri"/>
                        </a:rPr>
                        <a:t>tuning, threshold choice</a:t>
                      </a:r>
                    </a:p>
                  </a:txBody>
                  <a:tcPr>
                    <a:solidFill>
                      <a:srgbClr val="F6F7F9"/>
                    </a:solidFill>
                  </a:tcPr>
                </a:tc>
              </a:tr>
              <a:tr h="548640">
                <a:tc>
                  <a:txBody>
                    <a:bodyPr/>
                    <a:lstStyle/>
                    <a:p>
                      <a:r>
                        <a:rPr sz="1400" b="0">
                          <a:solidFill>
                            <a:srgbClr val="1B2430"/>
                          </a:solidFill>
                          <a:latin typeface="Calibri"/>
                        </a:rPr>
                        <a:t>English dev</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English tuning</a:t>
                      </a:r>
                    </a:p>
                  </a:txBody>
                  <a:tcPr>
                    <a:solidFill>
                      <a:srgbClr val="FFFFFF"/>
                    </a:solidFill>
                  </a:tcPr>
                </a:tc>
              </a:tr>
              <a:tr h="548640">
                <a:tc>
                  <a:txBody>
                    <a:bodyPr/>
                    <a:lstStyle/>
                    <a:p>
                      <a:r>
                        <a:rPr sz="1400" b="0">
                          <a:solidFill>
                            <a:srgbClr val="1B2430"/>
                          </a:solidFill>
                          <a:latin typeface="Calibri"/>
                        </a:rPr>
                        <a:t>Historical test</a:t>
                      </a:r>
                    </a:p>
                  </a:txBody>
                  <a:tcPr>
                    <a:solidFill>
                      <a:srgbClr val="F6F7F9"/>
                    </a:solidFill>
                  </a:tcPr>
                </a:tc>
                <a:tc>
                  <a:txBody>
                    <a:bodyPr/>
                    <a:lstStyle/>
                    <a:p>
                      <a:r>
                        <a:rPr sz="1400" b="0">
                          <a:solidFill>
                            <a:srgbClr val="1B2430"/>
                          </a:solidFill>
                          <a:latin typeface="Calibri"/>
                        </a:rPr>
                        <a:t>6</a:t>
                      </a:r>
                    </a:p>
                  </a:txBody>
                  <a:tcPr>
                    <a:solidFill>
                      <a:srgbClr val="F6F7F9"/>
                    </a:solidFill>
                  </a:tcPr>
                </a:tc>
                <a:tc>
                  <a:txBody>
                    <a:bodyPr/>
                    <a:lstStyle/>
                    <a:p>
                      <a:r>
                        <a:rPr sz="1400" b="0">
                          <a:solidFill>
                            <a:srgbClr val="1B2430"/>
                          </a:solidFill>
                          <a:latin typeface="Calibri"/>
                        </a:rPr>
                        <a:t>held out, four measures</a:t>
                      </a:r>
                    </a:p>
                  </a:txBody>
                  <a:tcPr>
                    <a:solidFill>
                      <a:srgbClr val="F6F7F9"/>
                    </a:solidFill>
                  </a:tcPr>
                </a:tc>
              </a:tr>
              <a:tr h="548640">
                <a:tc>
                  <a:txBody>
                    <a:bodyPr/>
                    <a:lstStyle/>
                    <a:p>
                      <a:r>
                        <a:rPr sz="1400" b="0">
                          <a:solidFill>
                            <a:srgbClr val="1B2430"/>
                          </a:solidFill>
                          <a:latin typeface="Calibri"/>
                        </a:rPr>
                        <a:t>Challenge</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blind after S14 freeze, now known</a:t>
                      </a:r>
                    </a:p>
                  </a:txBody>
                  <a:tcPr>
                    <a:solidFill>
                      <a:srgbClr val="FFFFFF"/>
                    </a:solidFill>
                  </a:tcPr>
                </a:tc>
              </a:tr>
              <a:tr h="548640">
                <a:tc>
                  <a:txBody>
                    <a:bodyPr/>
                    <a:lstStyle/>
                    <a:p>
                      <a:r>
                        <a:rPr sz="1400" b="0">
                          <a:solidFill>
                            <a:srgbClr val="1B2430"/>
                          </a:solidFill>
                          <a:latin typeface="Calibri"/>
                        </a:rPr>
                        <a:t>C3 French and English</a:t>
                      </a:r>
                    </a:p>
                  </a:txBody>
                  <a:tcPr>
                    <a:solidFill>
                      <a:srgbClr val="F6F7F9"/>
                    </a:solidFill>
                  </a:tcPr>
                </a:tc>
                <a:tc>
                  <a:txBody>
                    <a:bodyPr/>
                    <a:lstStyle/>
                    <a:p>
                      <a:r>
                        <a:rPr sz="1400" b="0">
                          <a:solidFill>
                            <a:srgbClr val="1B2430"/>
                          </a:solidFill>
                          <a:latin typeface="Calibri"/>
                        </a:rPr>
                        <a:t>8 + 8</a:t>
                      </a:r>
                    </a:p>
                  </a:txBody>
                  <a:tcPr>
                    <a:solidFill>
                      <a:srgbClr val="F6F7F9"/>
                    </a:solidFill>
                  </a:tcPr>
                </a:tc>
                <a:tc>
                  <a:txBody>
                    <a:bodyPr/>
                    <a:lstStyle/>
                    <a:p>
                      <a:r>
                        <a:rPr sz="1400" b="0">
                          <a:solidFill>
                            <a:srgbClr val="1B2430"/>
                          </a:solidFill>
                          <a:latin typeface="Calibri"/>
                        </a:rPr>
                        <a:t>blind after A4, measured once (G8)</a:t>
                      </a:r>
                    </a:p>
                  </a:txBody>
                  <a:tcPr>
                    <a:solidFill>
                      <a:srgbClr val="F6F7F9"/>
                    </a:solidFill>
                  </a:tcPr>
                </a:tc>
              </a:tr>
            </a:tbl>
          </a:graphicData>
        </a:graphic>
      </p:graphicFrame>
      <p:sp>
        <p:nvSpPr>
          <p:cNvPr id="7" name="Rounded Rectangle 6"/>
          <p:cNvSpPr/>
          <p:nvPr/>
        </p:nvSpPr>
        <p:spPr>
          <a:xfrm>
            <a:off x="7223760" y="1463040"/>
            <a:ext cx="4389120" cy="731520"/>
          </a:xfrm>
          <a:prstGeom prst="roundRect">
            <a:avLst>
              <a:gd name="adj" fmla="val 10000"/>
            </a:avLst>
          </a:prstGeom>
          <a:solidFill>
            <a:srgbClr val="E1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52360" y="1463040"/>
            <a:ext cx="4023360" cy="731520"/>
          </a:xfrm>
          <a:prstGeom prst="rect">
            <a:avLst/>
          </a:prstGeom>
          <a:noFill/>
        </p:spPr>
        <p:txBody>
          <a:bodyPr wrap="square" lIns="0" rIns="0" tIns="0" bIns="0" anchor="ctr">
            <a:spAutoFit/>
          </a:bodyPr>
          <a:lstStyle/>
          <a:p>
            <a:pPr algn="l">
              <a:spcAft>
                <a:spcPts val="600"/>
              </a:spcAft>
            </a:pPr>
            <a:r>
              <a:rPr sz="1400" b="1" i="0">
                <a:solidFill>
                  <a:srgbClr val="0E7490"/>
                </a:solidFill>
                <a:latin typeface="Calibri"/>
              </a:rPr>
              <a:t>Full coverage: </a:t>
            </a:r>
            <a:r>
              <a:rPr sz="1400" b="0" i="0">
                <a:solidFill>
                  <a:srgbClr val="1B2430"/>
                </a:solidFill>
                <a:latin typeface="Calibri"/>
              </a:rPr>
              <a:t>every character of a value masked</a:t>
            </a:r>
          </a:p>
        </p:txBody>
      </p:sp>
      <p:sp>
        <p:nvSpPr>
          <p:cNvPr id="9" name="Rounded Rectangle 8"/>
          <p:cNvSpPr/>
          <p:nvPr/>
        </p:nvSpPr>
        <p:spPr>
          <a:xfrm>
            <a:off x="7223760" y="2331720"/>
            <a:ext cx="4389120" cy="731520"/>
          </a:xfrm>
          <a:prstGeom prst="roundRect">
            <a:avLst>
              <a:gd name="adj" fmla="val 10000"/>
            </a:avLst>
          </a:prstGeom>
          <a:solidFill>
            <a:srgbClr val="E1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52360" y="2331720"/>
            <a:ext cx="4023360" cy="731520"/>
          </a:xfrm>
          <a:prstGeom prst="rect">
            <a:avLst/>
          </a:prstGeom>
          <a:noFill/>
        </p:spPr>
        <p:txBody>
          <a:bodyPr wrap="square" lIns="0" rIns="0" tIns="0" bIns="0" anchor="ctr">
            <a:spAutoFit/>
          </a:bodyPr>
          <a:lstStyle/>
          <a:p>
            <a:pPr algn="l">
              <a:spcAft>
                <a:spcPts val="600"/>
              </a:spcAft>
            </a:pPr>
            <a:r>
              <a:rPr sz="1400" b="1" i="0">
                <a:solidFill>
                  <a:srgbClr val="0E7490"/>
                </a:solidFill>
                <a:latin typeface="Calibri"/>
              </a:rPr>
              <a:t>Leaked characters: </a:t>
            </a:r>
            <a:r>
              <a:rPr sz="1400" b="0" i="0">
                <a:solidFill>
                  <a:srgbClr val="1B2430"/>
                </a:solidFill>
                <a:latin typeface="Calibri"/>
              </a:rPr>
              <a:t>sensitive characters left visible</a:t>
            </a:r>
          </a:p>
        </p:txBody>
      </p:sp>
      <p:sp>
        <p:nvSpPr>
          <p:cNvPr id="11" name="Rounded Rectangle 10"/>
          <p:cNvSpPr/>
          <p:nvPr/>
        </p:nvSpPr>
        <p:spPr>
          <a:xfrm>
            <a:off x="7223760" y="3200400"/>
            <a:ext cx="4389120" cy="731520"/>
          </a:xfrm>
          <a:prstGeom prst="roundRect">
            <a:avLst>
              <a:gd name="adj" fmla="val 10000"/>
            </a:avLst>
          </a:prstGeom>
          <a:solidFill>
            <a:srgbClr val="E1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52360" y="3200400"/>
            <a:ext cx="4023360" cy="731520"/>
          </a:xfrm>
          <a:prstGeom prst="rect">
            <a:avLst/>
          </a:prstGeom>
          <a:noFill/>
        </p:spPr>
        <p:txBody>
          <a:bodyPr wrap="square" lIns="0" rIns="0" tIns="0" bIns="0" anchor="ctr">
            <a:spAutoFit/>
          </a:bodyPr>
          <a:lstStyle/>
          <a:p>
            <a:pPr algn="l">
              <a:spcAft>
                <a:spcPts val="600"/>
              </a:spcAft>
            </a:pPr>
            <a:r>
              <a:rPr sz="1400" b="1" i="0">
                <a:solidFill>
                  <a:srgbClr val="0E7490"/>
                </a:solidFill>
                <a:latin typeface="Calibri"/>
              </a:rPr>
              <a:t>Over-masking: </a:t>
            </a:r>
            <a:r>
              <a:rPr sz="1400" b="0" i="0">
                <a:solidFill>
                  <a:srgbClr val="1B2430"/>
                </a:solidFill>
                <a:latin typeface="Calibri"/>
              </a:rPr>
              <a:t>masked characters outside any annotation</a:t>
            </a:r>
          </a:p>
        </p:txBody>
      </p:sp>
      <p:sp>
        <p:nvSpPr>
          <p:cNvPr id="13" name="Rounded Rectangle 12"/>
          <p:cNvSpPr/>
          <p:nvPr/>
        </p:nvSpPr>
        <p:spPr>
          <a:xfrm>
            <a:off x="7223760" y="4069079"/>
            <a:ext cx="4389120" cy="731520"/>
          </a:xfrm>
          <a:prstGeom prst="roundRect">
            <a:avLst>
              <a:gd name="adj" fmla="val 10000"/>
            </a:avLst>
          </a:prstGeom>
          <a:solidFill>
            <a:srgbClr val="E1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52360" y="4069079"/>
            <a:ext cx="4023360" cy="731520"/>
          </a:xfrm>
          <a:prstGeom prst="rect">
            <a:avLst/>
          </a:prstGeom>
          <a:noFill/>
        </p:spPr>
        <p:txBody>
          <a:bodyPr wrap="square" lIns="0" rIns="0" tIns="0" bIns="0" anchor="ctr">
            <a:spAutoFit/>
          </a:bodyPr>
          <a:lstStyle/>
          <a:p>
            <a:pPr algn="l">
              <a:spcAft>
                <a:spcPts val="600"/>
              </a:spcAft>
            </a:pPr>
            <a:r>
              <a:rPr sz="1400" b="1" i="0">
                <a:solidFill>
                  <a:srgbClr val="0E7490"/>
                </a:solidFill>
                <a:latin typeface="Calibri"/>
              </a:rPr>
              <a:t>F2: </a:t>
            </a:r>
            <a:r>
              <a:rPr sz="1400" b="0" i="0">
                <a:solidFill>
                  <a:srgbClr val="1B2430"/>
                </a:solidFill>
                <a:latin typeface="Calibri"/>
              </a:rPr>
              <a:t>recall weighs twice as much as precision</a:t>
            </a:r>
          </a:p>
        </p:txBody>
      </p:sp>
      <p:sp>
        <p:nvSpPr>
          <p:cNvPr id="15" name="Rounded Rectangle 14"/>
          <p:cNvSpPr/>
          <p:nvPr/>
        </p:nvSpPr>
        <p:spPr>
          <a:xfrm>
            <a:off x="7223760" y="4937760"/>
            <a:ext cx="4389120" cy="731520"/>
          </a:xfrm>
          <a:prstGeom prst="roundRect">
            <a:avLst>
              <a:gd name="adj" fmla="val 10000"/>
            </a:avLst>
          </a:prstGeom>
          <a:solidFill>
            <a:srgbClr val="E1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52360" y="4937760"/>
            <a:ext cx="4023360" cy="731520"/>
          </a:xfrm>
          <a:prstGeom prst="rect">
            <a:avLst/>
          </a:prstGeom>
          <a:noFill/>
        </p:spPr>
        <p:txBody>
          <a:bodyPr wrap="square" lIns="0" rIns="0" tIns="0" bIns="0" anchor="ctr">
            <a:spAutoFit/>
          </a:bodyPr>
          <a:lstStyle/>
          <a:p>
            <a:pPr algn="l">
              <a:spcAft>
                <a:spcPts val="600"/>
              </a:spcAft>
            </a:pPr>
            <a:r>
              <a:rPr sz="1400" b="1" i="0">
                <a:solidFill>
                  <a:srgbClr val="0E7490"/>
                </a:solidFill>
                <a:latin typeface="Calibri"/>
              </a:rPr>
              <a:t>Paired bootstrap: </a:t>
            </a:r>
            <a:r>
              <a:rPr sz="1400" b="0" i="0">
                <a:solidFill>
                  <a:srgbClr val="1B2430"/>
                </a:solidFill>
                <a:latin typeface="Calibri"/>
              </a:rPr>
              <a:t>2,000 document draws, seed 45</a:t>
            </a:r>
          </a:p>
        </p:txBody>
      </p:sp>
      <p:sp>
        <p:nvSpPr>
          <p:cNvPr id="17" name="TextBox 16"/>
          <p:cNvSpPr txBox="1"/>
          <p:nvPr/>
        </p:nvSpPr>
        <p:spPr>
          <a:xfrm>
            <a:off x="548640" y="4983480"/>
            <a:ext cx="6309360" cy="1097280"/>
          </a:xfrm>
          <a:prstGeom prst="rect">
            <a:avLst/>
          </a:prstGeom>
          <a:noFill/>
        </p:spPr>
        <p:txBody>
          <a:bodyPr wrap="square" lIns="0" rIns="0" tIns="0" bIns="0" anchor="t">
            <a:spAutoFit/>
          </a:bodyPr>
          <a:lstStyle/>
          <a:p>
            <a:pPr algn="l" marL="201168" indent="-201168">
              <a:spcAft>
                <a:spcPts val="600"/>
              </a:spcAft>
              <a:buFont typeface="Arial"/>
              <a:buChar char="•"/>
            </a:pPr>
            <a:r>
              <a:rPr sz="1400" b="0" i="0">
                <a:solidFill>
                  <a:srgbClr val="5B6675"/>
                </a:solidFill>
                <a:latin typeface="Calibri"/>
              </a:rPr>
              <a:t>Eleven types evaluated; CUSTOM and LOCATION reported apart.</a:t>
            </a:r>
          </a:p>
          <a:p>
            <a:pPr algn="l" marL="201168" indent="-201168">
              <a:spcAft>
                <a:spcPts val="600"/>
              </a:spcAft>
              <a:buFont typeface="Arial"/>
              <a:buChar char="•"/>
            </a:pPr>
            <a:r>
              <a:rPr sz="1400" b="0" i="0">
                <a:solidFill>
                  <a:srgbClr val="5B6675"/>
                </a:solidFill>
                <a:latin typeface="Calibri"/>
              </a:rPr>
              <a:t>No human is simulated: figures describe the tool before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French challenge, G8R2: Enhanced protects more</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10 / 14</a:t>
            </a:r>
          </a:p>
        </p:txBody>
      </p:sp>
      <p:graphicFrame>
        <p:nvGraphicFramePr>
          <p:cNvPr id="6" name="Chart 5"/>
          <p:cNvGraphicFramePr>
            <a:graphicFrameLocks noGrp="1"/>
          </p:cNvGraphicFramePr>
          <p:nvPr/>
        </p:nvGraphicFramePr>
        <p:xfrm>
          <a:off x="548640" y="1371600"/>
          <a:ext cx="5486400" cy="2377440"/>
        </p:xfrm>
        <a:graphic>
          <a:graphicData uri="http://schemas.openxmlformats.org/drawingml/2006/chart">
            <c:chart xmlns:c="http://schemas.openxmlformats.org/drawingml/2006/chart" r:id="rId4"/>
          </a:graphicData>
        </a:graphic>
      </p:graphicFrame>
      <p:graphicFrame>
        <p:nvGraphicFramePr>
          <p:cNvPr id="7" name="Chart 6"/>
          <p:cNvGraphicFramePr>
            <a:graphicFrameLocks noGrp="1"/>
          </p:cNvGraphicFramePr>
          <p:nvPr/>
        </p:nvGraphicFramePr>
        <p:xfrm>
          <a:off x="6126480" y="1371600"/>
          <a:ext cx="5486400" cy="2377440"/>
        </p:xfrm>
        <a:graphic>
          <a:graphicData uri="http://schemas.openxmlformats.org/drawingml/2006/chart">
            <c:chart xmlns:c="http://schemas.openxmlformats.org/drawingml/2006/chart" r:id="rId5"/>
          </a:graphicData>
        </a:graphic>
      </p:graphicFrame>
      <p:sp>
        <p:nvSpPr>
          <p:cNvPr id="8" name="Rounded Rectangle 7"/>
          <p:cNvSpPr/>
          <p:nvPr/>
        </p:nvSpPr>
        <p:spPr>
          <a:xfrm>
            <a:off x="548640" y="3977639"/>
            <a:ext cx="3566160" cy="1508760"/>
          </a:xfrm>
          <a:prstGeom prst="roundRect">
            <a:avLst>
              <a:gd name="adj" fmla="val 8000"/>
            </a:avLst>
          </a:prstGeom>
          <a:solidFill>
            <a:srgbClr val="E4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4114800"/>
            <a:ext cx="3108960" cy="365760"/>
          </a:xfrm>
          <a:prstGeom prst="rect">
            <a:avLst/>
          </a:prstGeom>
          <a:noFill/>
        </p:spPr>
        <p:txBody>
          <a:bodyPr wrap="square" lIns="0" rIns="0" tIns="0" bIns="0" anchor="t">
            <a:spAutoFit/>
          </a:bodyPr>
          <a:lstStyle/>
          <a:p>
            <a:pPr algn="l">
              <a:spcAft>
                <a:spcPts val="600"/>
              </a:spcAft>
            </a:pPr>
            <a:r>
              <a:rPr sz="1700" b="1" i="0">
                <a:solidFill>
                  <a:srgbClr val="2E6B4F"/>
                </a:solidFill>
                <a:latin typeface="Calibri"/>
              </a:rPr>
              <a:t>Leakage reduction</a:t>
            </a:r>
          </a:p>
        </p:txBody>
      </p:sp>
      <p:sp>
        <p:nvSpPr>
          <p:cNvPr id="10" name="TextBox 9"/>
          <p:cNvSpPr txBox="1"/>
          <p:nvPr/>
        </p:nvSpPr>
        <p:spPr>
          <a:xfrm>
            <a:off x="777240" y="4553712"/>
            <a:ext cx="3108960" cy="86868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paired 95% CI [-0.062; -0.006]: excludes zero</a:t>
            </a:r>
          </a:p>
        </p:txBody>
      </p:sp>
      <p:sp>
        <p:nvSpPr>
          <p:cNvPr id="11" name="Rounded Rectangle 10"/>
          <p:cNvSpPr/>
          <p:nvPr/>
        </p:nvSpPr>
        <p:spPr>
          <a:xfrm>
            <a:off x="4297679" y="3977639"/>
            <a:ext cx="3566160" cy="150876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26279" y="4114800"/>
            <a:ext cx="3108960" cy="365760"/>
          </a:xfrm>
          <a:prstGeom prst="rect">
            <a:avLst/>
          </a:prstGeom>
          <a:noFill/>
        </p:spPr>
        <p:txBody>
          <a:bodyPr wrap="square" lIns="0" rIns="0" tIns="0" bIns="0" anchor="t">
            <a:spAutoFit/>
          </a:bodyPr>
          <a:lstStyle/>
          <a:p>
            <a:pPr algn="l">
              <a:spcAft>
                <a:spcPts val="600"/>
              </a:spcAft>
            </a:pPr>
            <a:r>
              <a:rPr sz="1700" b="1" i="0">
                <a:solidFill>
                  <a:srgbClr val="8C5A00"/>
                </a:solidFill>
                <a:latin typeface="Calibri"/>
              </a:rPr>
              <a:t>Coverage gain</a:t>
            </a:r>
          </a:p>
        </p:txBody>
      </p:sp>
      <p:sp>
        <p:nvSpPr>
          <p:cNvPr id="13" name="TextBox 12"/>
          <p:cNvSpPr txBox="1"/>
          <p:nvPr/>
        </p:nvSpPr>
        <p:spPr>
          <a:xfrm>
            <a:off x="4526279" y="4553712"/>
            <a:ext cx="3108960" cy="86868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paired 95% CI [0; 0.167]: touches zero, not significant</a:t>
            </a:r>
          </a:p>
        </p:txBody>
      </p:sp>
      <p:sp>
        <p:nvSpPr>
          <p:cNvPr id="14" name="Rounded Rectangle 13"/>
          <p:cNvSpPr/>
          <p:nvPr/>
        </p:nvSpPr>
        <p:spPr>
          <a:xfrm>
            <a:off x="8046719" y="3977639"/>
            <a:ext cx="3566160" cy="1508760"/>
          </a:xfrm>
          <a:prstGeom prst="roundRect">
            <a:avLst>
              <a:gd name="adj" fmla="val 8000"/>
            </a:avLst>
          </a:prstGeom>
          <a:solidFill>
            <a:srgbClr val="F6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75319" y="4114800"/>
            <a:ext cx="3108960" cy="365760"/>
          </a:xfrm>
          <a:prstGeom prst="rect">
            <a:avLst/>
          </a:prstGeom>
          <a:noFill/>
        </p:spPr>
        <p:txBody>
          <a:bodyPr wrap="square" lIns="0" rIns="0" tIns="0" bIns="0" anchor="t">
            <a:spAutoFit/>
          </a:bodyPr>
          <a:lstStyle/>
          <a:p>
            <a:pPr algn="l">
              <a:spcAft>
                <a:spcPts val="600"/>
              </a:spcAft>
            </a:pPr>
            <a:r>
              <a:rPr sz="1700" b="1" i="0">
                <a:solidFill>
                  <a:srgbClr val="9B2C2C"/>
                </a:solidFill>
                <a:latin typeface="Calibri"/>
              </a:rPr>
              <a:t>Before review</a:t>
            </a:r>
          </a:p>
        </p:txBody>
      </p:sp>
      <p:sp>
        <p:nvSpPr>
          <p:cNvPr id="16" name="TextBox 15"/>
          <p:cNvSpPr txBox="1"/>
          <p:nvPr/>
        </p:nvSpPr>
        <p:spPr>
          <a:xfrm>
            <a:off x="8275319" y="4553712"/>
            <a:ext cx="3108960" cy="86868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33 (Standard) and 20 (Enhanced) entities at least partly exposed</a:t>
            </a:r>
          </a:p>
        </p:txBody>
      </p:sp>
      <p:sp>
        <p:nvSpPr>
          <p:cNvPr id="17" name="TextBox 16"/>
          <p:cNvSpPr txBox="1"/>
          <p:nvPr/>
        </p:nvSpPr>
        <p:spPr>
          <a:xfrm>
            <a:off x="548640" y="5669280"/>
            <a:ext cx="11064240" cy="548640"/>
          </a:xfrm>
          <a:prstGeom prst="rect">
            <a:avLst/>
          </a:prstGeom>
          <a:noFill/>
        </p:spPr>
        <p:txBody>
          <a:bodyPr wrap="square" lIns="0" rIns="0" tIns="0" bIns="0" anchor="t">
            <a:spAutoFit/>
          </a:bodyPr>
          <a:lstStyle/>
          <a:p>
            <a:pPr algn="l">
              <a:spcAft>
                <a:spcPts val="600"/>
              </a:spcAft>
            </a:pPr>
            <a:r>
              <a:rPr sz="1200" b="0" i="0">
                <a:solidFill>
                  <a:srgbClr val="5B6675"/>
                </a:solidFill>
                <a:latin typeface="Calibri"/>
              </a:rPr>
              <a:t>Partial precision 0.8039 (Standard) and 0.8018 (Enhanced). Not a new blind validation. Source: results/gate8-resume/report.md, D-G8R2-1.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English: experimental, with reservations</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11 / 14</a:t>
            </a:r>
          </a:p>
        </p:txBody>
      </p:sp>
      <p:graphicFrame>
        <p:nvGraphicFramePr>
          <p:cNvPr id="6" name="Table 5"/>
          <p:cNvGraphicFramePr>
            <a:graphicFrameLocks noGrp="1"/>
          </p:cNvGraphicFramePr>
          <p:nvPr/>
        </p:nvGraphicFramePr>
        <p:xfrm>
          <a:off x="548640" y="1508760"/>
          <a:ext cx="11064240" cy="3108960"/>
        </p:xfrm>
        <a:graphic>
          <a:graphicData uri="http://schemas.openxmlformats.org/drawingml/2006/table">
            <a:tbl>
              <a:tblPr firstRow="1" bandRow="1">
                <a:tableStyleId>{5C22544A-7EE6-4342-B048-85BDC9FD1C3A}</a:tableStyleId>
              </a:tblPr>
              <a:tblGrid>
                <a:gridCol w="2926080"/>
                <a:gridCol w="1463040"/>
                <a:gridCol w="1645920"/>
                <a:gridCol w="1554480"/>
                <a:gridCol w="3474720"/>
              </a:tblGrid>
              <a:tr h="621792">
                <a:tc>
                  <a:txBody>
                    <a:bodyPr/>
                    <a:lstStyle/>
                    <a:p>
                      <a:r>
                        <a:rPr sz="1500" b="1">
                          <a:solidFill>
                            <a:srgbClr val="FFFFFF"/>
                          </a:solidFill>
                          <a:latin typeface="Calibri"/>
                        </a:rPr>
                        <a:t>C3 blind set, code e3d13bd</a:t>
                      </a:r>
                    </a:p>
                  </a:txBody>
                  <a:tcPr anchor="ctr">
                    <a:solidFill>
                      <a:srgbClr val="1F3A5F"/>
                    </a:solidFill>
                  </a:tcPr>
                </a:tc>
                <a:tc>
                  <a:txBody>
                    <a:bodyPr/>
                    <a:lstStyle/>
                    <a:p>
                      <a:r>
                        <a:rPr sz="1500" b="1">
                          <a:solidFill>
                            <a:srgbClr val="FFFFFF"/>
                          </a:solidFill>
                          <a:latin typeface="Calibri"/>
                        </a:rPr>
                        <a:t>Precision</a:t>
                      </a:r>
                    </a:p>
                  </a:txBody>
                  <a:tcPr anchor="ctr">
                    <a:solidFill>
                      <a:srgbClr val="1F3A5F"/>
                    </a:solidFill>
                  </a:tcPr>
                </a:tc>
                <a:tc>
                  <a:txBody>
                    <a:bodyPr/>
                    <a:lstStyle/>
                    <a:p>
                      <a:r>
                        <a:rPr sz="1500" b="1">
                          <a:solidFill>
                            <a:srgbClr val="FFFFFF"/>
                          </a:solidFill>
                          <a:latin typeface="Calibri"/>
                        </a:rPr>
                        <a:t>Fully covered</a:t>
                      </a:r>
                    </a:p>
                  </a:txBody>
                  <a:tcPr anchor="ctr">
                    <a:solidFill>
                      <a:srgbClr val="1F3A5F"/>
                    </a:solidFill>
                  </a:tcPr>
                </a:tc>
                <a:tc>
                  <a:txBody>
                    <a:bodyPr/>
                    <a:lstStyle/>
                    <a:p>
                      <a:r>
                        <a:rPr sz="1500" b="1">
                          <a:solidFill>
                            <a:srgbClr val="FFFFFF"/>
                          </a:solidFill>
                          <a:latin typeface="Calibri"/>
                        </a:rPr>
                        <a:t>Leaked</a:t>
                      </a:r>
                    </a:p>
                  </a:txBody>
                  <a:tcPr anchor="ctr">
                    <a:solidFill>
                      <a:srgbClr val="1F3A5F"/>
                    </a:solidFill>
                  </a:tcPr>
                </a:tc>
                <a:tc>
                  <a:txBody>
                    <a:bodyPr/>
                    <a:lstStyle/>
                    <a:p>
                      <a:r>
                        <a:rPr sz="1500" b="1">
                          <a:solidFill>
                            <a:srgbClr val="FFFFFF"/>
                          </a:solidFill>
                          <a:latin typeface="Calibri"/>
                        </a:rPr>
                        <a:t>Status</a:t>
                      </a:r>
                    </a:p>
                  </a:txBody>
                  <a:tcPr anchor="ctr">
                    <a:solidFill>
                      <a:srgbClr val="1F3A5F"/>
                    </a:solidFill>
                  </a:tcPr>
                </a:tc>
              </a:tr>
              <a:tr h="621792">
                <a:tc>
                  <a:txBody>
                    <a:bodyPr/>
                    <a:lstStyle/>
                    <a:p>
                      <a:r>
                        <a:rPr sz="1500" b="0">
                          <a:solidFill>
                            <a:srgbClr val="1B2430"/>
                          </a:solidFill>
                          <a:latin typeface="Calibri"/>
                        </a:rPr>
                        <a:t>French Standard</a:t>
                      </a:r>
                    </a:p>
                  </a:txBody>
                  <a:tcPr anchor="ctr">
                    <a:solidFill>
                      <a:srgbClr val="FFFFFF"/>
                    </a:solidFill>
                  </a:tcPr>
                </a:tc>
                <a:tc>
                  <a:txBody>
                    <a:bodyPr/>
                    <a:lstStyle/>
                    <a:p>
                      <a:r>
                        <a:rPr sz="1500" b="0">
                          <a:solidFill>
                            <a:srgbClr val="1B2430"/>
                          </a:solidFill>
                          <a:latin typeface="Calibri"/>
                        </a:rPr>
                        <a:t>0.8922</a:t>
                      </a:r>
                    </a:p>
                  </a:txBody>
                  <a:tcPr anchor="ctr">
                    <a:solidFill>
                      <a:srgbClr val="FFFFFF"/>
                    </a:solidFill>
                  </a:tcPr>
                </a:tc>
                <a:tc>
                  <a:txBody>
                    <a:bodyPr/>
                    <a:lstStyle/>
                    <a:p>
                      <a:r>
                        <a:rPr sz="1500" b="0">
                          <a:solidFill>
                            <a:srgbClr val="1B2430"/>
                          </a:solidFill>
                          <a:latin typeface="Calibri"/>
                        </a:rPr>
                        <a:t>95/105</a:t>
                      </a:r>
                    </a:p>
                  </a:txBody>
                  <a:tcPr anchor="ctr">
                    <a:solidFill>
                      <a:srgbClr val="FFFFFF"/>
                    </a:solidFill>
                  </a:tcPr>
                </a:tc>
                <a:tc>
                  <a:txBody>
                    <a:bodyPr/>
                    <a:lstStyle/>
                    <a:p>
                      <a:r>
                        <a:rPr sz="1500" b="0">
                          <a:solidFill>
                            <a:srgbClr val="1B2430"/>
                          </a:solidFill>
                          <a:latin typeface="Calibri"/>
                        </a:rPr>
                        <a:t>139/2042</a:t>
                      </a:r>
                    </a:p>
                  </a:txBody>
                  <a:tcPr anchor="ctr">
                    <a:solidFill>
                      <a:srgbClr val="FFFFFF"/>
                    </a:solidFill>
                  </a:tcPr>
                </a:tc>
                <a:tc>
                  <a:txBody>
                    <a:bodyPr/>
                    <a:lstStyle/>
                    <a:p>
                      <a:r>
                        <a:rPr sz="1500" b="1">
                          <a:solidFill>
                            <a:srgbClr val="1B2430"/>
                          </a:solidFill>
                          <a:latin typeface="Calibri"/>
                        </a:rPr>
                        <a:t>Default</a:t>
                      </a:r>
                    </a:p>
                  </a:txBody>
                  <a:tcPr anchor="ctr">
                    <a:solidFill>
                      <a:srgbClr val="E4F0E9"/>
                    </a:solidFill>
                  </a:tcPr>
                </a:tc>
              </a:tr>
              <a:tr h="621792">
                <a:tc>
                  <a:txBody>
                    <a:bodyPr/>
                    <a:lstStyle/>
                    <a:p>
                      <a:r>
                        <a:rPr sz="1500" b="0">
                          <a:solidFill>
                            <a:srgbClr val="1B2430"/>
                          </a:solidFill>
                          <a:latin typeface="Calibri"/>
                        </a:rPr>
                        <a:t>French Enhanced</a:t>
                      </a:r>
                    </a:p>
                  </a:txBody>
                  <a:tcPr anchor="ctr">
                    <a:solidFill>
                      <a:srgbClr val="FFFFFF"/>
                    </a:solidFill>
                  </a:tcPr>
                </a:tc>
                <a:tc>
                  <a:txBody>
                    <a:bodyPr/>
                    <a:lstStyle/>
                    <a:p>
                      <a:r>
                        <a:rPr sz="1500" b="0">
                          <a:solidFill>
                            <a:srgbClr val="1B2430"/>
                          </a:solidFill>
                          <a:latin typeface="Calibri"/>
                        </a:rPr>
                        <a:t>0.8824</a:t>
                      </a:r>
                    </a:p>
                  </a:txBody>
                  <a:tcPr anchor="ctr">
                    <a:solidFill>
                      <a:srgbClr val="FFFFFF"/>
                    </a:solidFill>
                  </a:tcPr>
                </a:tc>
                <a:tc>
                  <a:txBody>
                    <a:bodyPr/>
                    <a:lstStyle/>
                    <a:p>
                      <a:r>
                        <a:rPr sz="1500" b="0">
                          <a:solidFill>
                            <a:srgbClr val="1B2430"/>
                          </a:solidFill>
                          <a:latin typeface="Calibri"/>
                        </a:rPr>
                        <a:t>96/105</a:t>
                      </a:r>
                    </a:p>
                  </a:txBody>
                  <a:tcPr anchor="ctr">
                    <a:solidFill>
                      <a:srgbClr val="FFFFFF"/>
                    </a:solidFill>
                  </a:tcPr>
                </a:tc>
                <a:tc>
                  <a:txBody>
                    <a:bodyPr/>
                    <a:lstStyle/>
                    <a:p>
                      <a:r>
                        <a:rPr sz="1500" b="0">
                          <a:solidFill>
                            <a:srgbClr val="1B2430"/>
                          </a:solidFill>
                          <a:latin typeface="Calibri"/>
                        </a:rPr>
                        <a:t>130/2042</a:t>
                      </a:r>
                    </a:p>
                  </a:txBody>
                  <a:tcPr anchor="ctr">
                    <a:solidFill>
                      <a:srgbClr val="FFFFFF"/>
                    </a:solidFill>
                  </a:tcPr>
                </a:tc>
                <a:tc>
                  <a:txBody>
                    <a:bodyPr/>
                    <a:lstStyle/>
                    <a:p>
                      <a:r>
                        <a:rPr sz="1500" b="1">
                          <a:solidFill>
                            <a:srgbClr val="1B2430"/>
                          </a:solidFill>
                          <a:latin typeface="Calibri"/>
                        </a:rPr>
                        <a:t>Local French option</a:t>
                      </a:r>
                    </a:p>
                  </a:txBody>
                  <a:tcPr anchor="ctr">
                    <a:solidFill>
                      <a:srgbClr val="E4F0E9"/>
                    </a:solidFill>
                  </a:tcPr>
                </a:tc>
              </a:tr>
              <a:tr h="621792">
                <a:tc>
                  <a:txBody>
                    <a:bodyPr/>
                    <a:lstStyle/>
                    <a:p>
                      <a:r>
                        <a:rPr sz="1500" b="0">
                          <a:solidFill>
                            <a:srgbClr val="1B2430"/>
                          </a:solidFill>
                          <a:latin typeface="Calibri"/>
                        </a:rPr>
                        <a:t>English Standard</a:t>
                      </a:r>
                    </a:p>
                  </a:txBody>
                  <a:tcPr anchor="ctr">
                    <a:solidFill>
                      <a:srgbClr val="FFFFFF"/>
                    </a:solidFill>
                  </a:tcPr>
                </a:tc>
                <a:tc>
                  <a:txBody>
                    <a:bodyPr/>
                    <a:lstStyle/>
                    <a:p>
                      <a:r>
                        <a:rPr sz="1500" b="0">
                          <a:solidFill>
                            <a:srgbClr val="1B2430"/>
                          </a:solidFill>
                          <a:latin typeface="Calibri"/>
                        </a:rPr>
                        <a:t>0.8349</a:t>
                      </a:r>
                    </a:p>
                  </a:txBody>
                  <a:tcPr anchor="ctr">
                    <a:solidFill>
                      <a:srgbClr val="FFFFFF"/>
                    </a:solidFill>
                  </a:tcPr>
                </a:tc>
                <a:tc>
                  <a:txBody>
                    <a:bodyPr/>
                    <a:lstStyle/>
                    <a:p>
                      <a:r>
                        <a:rPr sz="1500" b="0">
                          <a:solidFill>
                            <a:srgbClr val="1B2430"/>
                          </a:solidFill>
                          <a:latin typeface="Calibri"/>
                        </a:rPr>
                        <a:t>78/100</a:t>
                      </a:r>
                    </a:p>
                  </a:txBody>
                  <a:tcPr anchor="ctr">
                    <a:solidFill>
                      <a:srgbClr val="FFFFFF"/>
                    </a:solidFill>
                  </a:tcPr>
                </a:tc>
                <a:tc>
                  <a:txBody>
                    <a:bodyPr/>
                    <a:lstStyle/>
                    <a:p>
                      <a:r>
                        <a:rPr sz="1500" b="0">
                          <a:solidFill>
                            <a:srgbClr val="1B2430"/>
                          </a:solidFill>
                          <a:latin typeface="Calibri"/>
                        </a:rPr>
                        <a:t>235/2285</a:t>
                      </a:r>
                    </a:p>
                  </a:txBody>
                  <a:tcPr anchor="ctr">
                    <a:solidFill>
                      <a:srgbClr val="FFFFFF"/>
                    </a:solidFill>
                  </a:tcPr>
                </a:tc>
                <a:tc>
                  <a:txBody>
                    <a:bodyPr/>
                    <a:lstStyle/>
                    <a:p>
                      <a:r>
                        <a:rPr sz="1500" b="1">
                          <a:solidFill>
                            <a:srgbClr val="1B2430"/>
                          </a:solidFill>
                          <a:latin typeface="Calibri"/>
                        </a:rPr>
                        <a:t>Experimental, strong reservations</a:t>
                      </a:r>
                    </a:p>
                  </a:txBody>
                  <a:tcPr anchor="ctr">
                    <a:solidFill>
                      <a:srgbClr val="FBF0DC"/>
                    </a:solidFill>
                  </a:tcPr>
                </a:tc>
              </a:tr>
              <a:tr h="621792">
                <a:tc>
                  <a:txBody>
                    <a:bodyPr/>
                    <a:lstStyle/>
                    <a:p>
                      <a:r>
                        <a:rPr sz="1500" b="0">
                          <a:solidFill>
                            <a:srgbClr val="1B2430"/>
                          </a:solidFill>
                          <a:latin typeface="Calibri"/>
                        </a:rPr>
                        <a:t>English Enhanced</a:t>
                      </a:r>
                    </a:p>
                  </a:txBody>
                  <a:tcPr anchor="ctr">
                    <a:solidFill>
                      <a:srgbClr val="FFFFFF"/>
                    </a:solidFill>
                  </a:tcPr>
                </a:tc>
                <a:tc>
                  <a:txBody>
                    <a:bodyPr/>
                    <a:lstStyle/>
                    <a:p>
                      <a:r>
                        <a:rPr sz="1500" b="0">
                          <a:solidFill>
                            <a:srgbClr val="1B2430"/>
                          </a:solidFill>
                          <a:latin typeface="Calibri"/>
                        </a:rPr>
                        <a:t>0.7000</a:t>
                      </a:r>
                    </a:p>
                  </a:txBody>
                  <a:tcPr anchor="ctr">
                    <a:solidFill>
                      <a:srgbClr val="FFFFFF"/>
                    </a:solidFill>
                  </a:tcPr>
                </a:tc>
                <a:tc>
                  <a:txBody>
                    <a:bodyPr/>
                    <a:lstStyle/>
                    <a:p>
                      <a:r>
                        <a:rPr sz="1500" b="0">
                          <a:solidFill>
                            <a:srgbClr val="1B2430"/>
                          </a:solidFill>
                          <a:latin typeface="Calibri"/>
                        </a:rPr>
                        <a:t>88/100</a:t>
                      </a:r>
                    </a:p>
                  </a:txBody>
                  <a:tcPr anchor="ctr">
                    <a:solidFill>
                      <a:srgbClr val="FFFFFF"/>
                    </a:solidFill>
                  </a:tcPr>
                </a:tc>
                <a:tc>
                  <a:txBody>
                    <a:bodyPr/>
                    <a:lstStyle/>
                    <a:p>
                      <a:r>
                        <a:rPr sz="1500" b="0">
                          <a:solidFill>
                            <a:srgbClr val="1B2430"/>
                          </a:solidFill>
                          <a:latin typeface="Calibri"/>
                        </a:rPr>
                        <a:t>115/2285</a:t>
                      </a:r>
                    </a:p>
                  </a:txBody>
                  <a:tcPr anchor="ctr">
                    <a:solidFill>
                      <a:srgbClr val="FFFFFF"/>
                    </a:solidFill>
                  </a:tcPr>
                </a:tc>
                <a:tc>
                  <a:txBody>
                    <a:bodyPr/>
                    <a:lstStyle/>
                    <a:p>
                      <a:r>
                        <a:rPr sz="1500" b="1">
                          <a:solidFill>
                            <a:srgbClr val="1B2430"/>
                          </a:solidFill>
                          <a:latin typeface="Calibri"/>
                        </a:rPr>
                        <a:t>Not recommended</a:t>
                      </a:r>
                    </a:p>
                  </a:txBody>
                  <a:tcPr anchor="ctr">
                    <a:solidFill>
                      <a:srgbClr val="F6E4E4"/>
                    </a:solidFill>
                  </a:tcPr>
                </a:tc>
              </a:tr>
            </a:tbl>
          </a:graphicData>
        </a:graphic>
      </p:graphicFrame>
      <p:sp>
        <p:nvSpPr>
          <p:cNvPr id="7" name="Rounded Rectangle 6"/>
          <p:cNvSpPr/>
          <p:nvPr/>
        </p:nvSpPr>
        <p:spPr>
          <a:xfrm>
            <a:off x="548640" y="4937760"/>
            <a:ext cx="11064240" cy="1097280"/>
          </a:xfrm>
          <a:prstGeom prst="roundRect">
            <a:avLst>
              <a:gd name="adj" fmla="val 8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60" y="4937760"/>
            <a:ext cx="10515600" cy="1097280"/>
          </a:xfrm>
          <a:prstGeom prst="rect">
            <a:avLst/>
          </a:prstGeom>
          <a:noFill/>
        </p:spPr>
        <p:txBody>
          <a:bodyPr wrap="square" lIns="0" rIns="0" tIns="0" bIns="0" anchor="ctr">
            <a:spAutoFit/>
          </a:bodyPr>
          <a:lstStyle/>
          <a:p>
            <a:pPr algn="l">
              <a:spcAft>
                <a:spcPts val="600"/>
              </a:spcAft>
            </a:pPr>
            <a:r>
              <a:rPr sz="1500" b="0" i="0">
                <a:solidFill>
                  <a:srgbClr val="1B2430"/>
                </a:solidFill>
                <a:latin typeface="Calibri"/>
              </a:rPr>
              <a:t>Precision loss of English Enhanced: 0.1349, above the 0.02 margin fixed before the measure. Standard is the fallback; every detection still needs review. Source: D-G8-1, results/gate8/report.md.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Engineering beyond the course</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12 / 14</a:t>
            </a:r>
          </a:p>
        </p:txBody>
      </p:sp>
      <p:sp>
        <p:nvSpPr>
          <p:cNvPr id="6" name="Rounded Rectangle 5"/>
          <p:cNvSpPr/>
          <p:nvPr/>
        </p:nvSpPr>
        <p:spPr>
          <a:xfrm>
            <a:off x="548640" y="160020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1</a:t>
            </a:r>
          </a:p>
        </p:txBody>
      </p:sp>
      <p:sp>
        <p:nvSpPr>
          <p:cNvPr id="8" name="TextBox 7"/>
          <p:cNvSpPr txBox="1"/>
          <p:nvPr/>
        </p:nvSpPr>
        <p:spPr>
          <a:xfrm>
            <a:off x="1417319" y="1856232"/>
            <a:ext cx="2560320" cy="457200"/>
          </a:xfrm>
          <a:prstGeom prst="rect">
            <a:avLst/>
          </a:prstGeom>
          <a:noFill/>
        </p:spPr>
        <p:txBody>
          <a:bodyPr wrap="square" lIns="0" rIns="0" tIns="0" bIns="0" anchor="ctr">
            <a:spAutoFit/>
          </a:bodyPr>
          <a:lstStyle/>
          <a:p>
            <a:pPr algn="l">
              <a:spcAft>
                <a:spcPts val="600"/>
              </a:spcAft>
            </a:pPr>
            <a:r>
              <a:rPr sz="1700" b="1" i="0">
                <a:solidFill>
                  <a:srgbClr val="1F3A5F"/>
                </a:solidFill>
                <a:latin typeface="Calibri"/>
              </a:rPr>
              <a:t>Overlapping windows</a:t>
            </a:r>
          </a:p>
        </p:txBody>
      </p:sp>
      <p:sp>
        <p:nvSpPr>
          <p:cNvPr id="9" name="TextBox 8"/>
          <p:cNvSpPr txBox="1"/>
          <p:nvPr/>
        </p:nvSpPr>
        <p:spPr>
          <a:xfrm>
            <a:off x="777240" y="2514600"/>
            <a:ext cx="3108960" cy="100584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CamemBERT 510 tokens, 64 overlap; GLiNER prompt checked against 512</a:t>
            </a:r>
          </a:p>
        </p:txBody>
      </p:sp>
      <p:sp>
        <p:nvSpPr>
          <p:cNvPr id="10" name="Rounded Rectangle 9"/>
          <p:cNvSpPr/>
          <p:nvPr/>
        </p:nvSpPr>
        <p:spPr>
          <a:xfrm>
            <a:off x="4297679" y="160020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26279" y="182880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2</a:t>
            </a:r>
          </a:p>
        </p:txBody>
      </p:sp>
      <p:sp>
        <p:nvSpPr>
          <p:cNvPr id="12" name="TextBox 11"/>
          <p:cNvSpPr txBox="1"/>
          <p:nvPr/>
        </p:nvSpPr>
        <p:spPr>
          <a:xfrm>
            <a:off x="5166359" y="1856232"/>
            <a:ext cx="2560320" cy="457200"/>
          </a:xfrm>
          <a:prstGeom prst="rect">
            <a:avLst/>
          </a:prstGeom>
          <a:noFill/>
        </p:spPr>
        <p:txBody>
          <a:bodyPr wrap="square" lIns="0" rIns="0" tIns="0" bIns="0" anchor="ctr">
            <a:spAutoFit/>
          </a:bodyPr>
          <a:lstStyle/>
          <a:p>
            <a:pPr algn="l">
              <a:spcAft>
                <a:spcPts val="600"/>
              </a:spcAft>
            </a:pPr>
            <a:r>
              <a:rPr sz="1700" b="1" i="0">
                <a:solidFill>
                  <a:srgbClr val="1F3A5F"/>
                </a:solidFill>
                <a:latin typeface="Calibri"/>
              </a:rPr>
              <a:t>Unicode projection</a:t>
            </a:r>
          </a:p>
        </p:txBody>
      </p:sp>
      <p:sp>
        <p:nvSpPr>
          <p:cNvPr id="13" name="TextBox 12"/>
          <p:cNvSpPr txBox="1"/>
          <p:nvPr/>
        </p:nvSpPr>
        <p:spPr>
          <a:xfrm>
            <a:off x="4526279" y="2514600"/>
            <a:ext cx="3108960" cy="100584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invisible characters normalised in a view, spans projected back</a:t>
            </a:r>
          </a:p>
        </p:txBody>
      </p:sp>
      <p:sp>
        <p:nvSpPr>
          <p:cNvPr id="14" name="Rounded Rectangle 13"/>
          <p:cNvSpPr/>
          <p:nvPr/>
        </p:nvSpPr>
        <p:spPr>
          <a:xfrm>
            <a:off x="8046719" y="160020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75319" y="182880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3</a:t>
            </a:r>
          </a:p>
        </p:txBody>
      </p:sp>
      <p:sp>
        <p:nvSpPr>
          <p:cNvPr id="16" name="TextBox 15"/>
          <p:cNvSpPr txBox="1"/>
          <p:nvPr/>
        </p:nvSpPr>
        <p:spPr>
          <a:xfrm>
            <a:off x="8915399" y="1856232"/>
            <a:ext cx="2560320" cy="457200"/>
          </a:xfrm>
          <a:prstGeom prst="rect">
            <a:avLst/>
          </a:prstGeom>
          <a:noFill/>
        </p:spPr>
        <p:txBody>
          <a:bodyPr wrap="square" lIns="0" rIns="0" tIns="0" bIns="0" anchor="ctr">
            <a:spAutoFit/>
          </a:bodyPr>
          <a:lstStyle/>
          <a:p>
            <a:pPr algn="l">
              <a:spcAft>
                <a:spcPts val="600"/>
              </a:spcAft>
            </a:pPr>
            <a:r>
              <a:rPr sz="1700" b="1" i="0">
                <a:solidFill>
                  <a:srgbClr val="1F3A5F"/>
                </a:solidFill>
                <a:latin typeface="Calibri"/>
              </a:rPr>
              <a:t>Tolerant restoration</a:t>
            </a:r>
          </a:p>
        </p:txBody>
      </p:sp>
      <p:sp>
        <p:nvSpPr>
          <p:cNvPr id="17" name="TextBox 16"/>
          <p:cNvSpPr txBox="1"/>
          <p:nvPr/>
        </p:nvSpPr>
        <p:spPr>
          <a:xfrm>
            <a:off x="8275319" y="2514600"/>
            <a:ext cx="3108960" cy="100584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altered tokens restored, ordinary words left untouched</a:t>
            </a:r>
          </a:p>
        </p:txBody>
      </p:sp>
      <p:sp>
        <p:nvSpPr>
          <p:cNvPr id="18" name="Rounded Rectangle 17"/>
          <p:cNvSpPr/>
          <p:nvPr/>
        </p:nvSpPr>
        <p:spPr>
          <a:xfrm>
            <a:off x="548640" y="370332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393192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4</a:t>
            </a:r>
          </a:p>
        </p:txBody>
      </p:sp>
      <p:sp>
        <p:nvSpPr>
          <p:cNvPr id="20" name="TextBox 19"/>
          <p:cNvSpPr txBox="1"/>
          <p:nvPr/>
        </p:nvSpPr>
        <p:spPr>
          <a:xfrm>
            <a:off x="1417319" y="3959352"/>
            <a:ext cx="2560320" cy="457200"/>
          </a:xfrm>
          <a:prstGeom prst="rect">
            <a:avLst/>
          </a:prstGeom>
          <a:noFill/>
        </p:spPr>
        <p:txBody>
          <a:bodyPr wrap="square" lIns="0" rIns="0" tIns="0" bIns="0" anchor="ctr">
            <a:spAutoFit/>
          </a:bodyPr>
          <a:lstStyle/>
          <a:p>
            <a:pPr algn="l">
              <a:spcAft>
                <a:spcPts val="600"/>
              </a:spcAft>
            </a:pPr>
            <a:r>
              <a:rPr sz="1700" b="1" i="0">
                <a:solidFill>
                  <a:srgbClr val="1F3A5F"/>
                </a:solidFill>
                <a:latin typeface="Calibri"/>
              </a:rPr>
              <a:t>Case memory</a:t>
            </a:r>
          </a:p>
        </p:txBody>
      </p:sp>
      <p:sp>
        <p:nvSpPr>
          <p:cNvPr id="21" name="TextBox 20"/>
          <p:cNvSpPr txBox="1"/>
          <p:nvPr/>
        </p:nvSpPr>
        <p:spPr>
          <a:xfrm>
            <a:off x="777240" y="4617720"/>
            <a:ext cx="3108960" cy="100584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a previous mapping table keeps tokens stable across a case</a:t>
            </a:r>
          </a:p>
        </p:txBody>
      </p:sp>
      <p:sp>
        <p:nvSpPr>
          <p:cNvPr id="22" name="Rounded Rectangle 21"/>
          <p:cNvSpPr/>
          <p:nvPr/>
        </p:nvSpPr>
        <p:spPr>
          <a:xfrm>
            <a:off x="4297679" y="370332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26279" y="393192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5</a:t>
            </a:r>
          </a:p>
        </p:txBody>
      </p:sp>
      <p:sp>
        <p:nvSpPr>
          <p:cNvPr id="24" name="TextBox 23"/>
          <p:cNvSpPr txBox="1"/>
          <p:nvPr/>
        </p:nvSpPr>
        <p:spPr>
          <a:xfrm>
            <a:off x="5166359" y="3959352"/>
            <a:ext cx="2560320" cy="457200"/>
          </a:xfrm>
          <a:prstGeom prst="rect">
            <a:avLst/>
          </a:prstGeom>
          <a:noFill/>
        </p:spPr>
        <p:txBody>
          <a:bodyPr wrap="square" lIns="0" rIns="0" tIns="0" bIns="0" anchor="ctr">
            <a:spAutoFit/>
          </a:bodyPr>
          <a:lstStyle/>
          <a:p>
            <a:pPr algn="l">
              <a:spcAft>
                <a:spcPts val="600"/>
              </a:spcAft>
            </a:pPr>
            <a:r>
              <a:rPr sz="1700" b="1" i="0">
                <a:solidFill>
                  <a:srgbClr val="1F3A5F"/>
                </a:solidFill>
                <a:latin typeface="Calibri"/>
              </a:rPr>
              <a:t>Two-segment check</a:t>
            </a:r>
          </a:p>
        </p:txBody>
      </p:sp>
      <p:sp>
        <p:nvSpPr>
          <p:cNvPr id="25" name="TextBox 24"/>
          <p:cNvSpPr txBox="1"/>
          <p:nvPr/>
        </p:nvSpPr>
        <p:spPr>
          <a:xfrm>
            <a:off x="4526279" y="4617720"/>
            <a:ext cx="3108960" cy="100584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document and instruction checked as one exact string</a:t>
            </a:r>
          </a:p>
        </p:txBody>
      </p:sp>
      <p:sp>
        <p:nvSpPr>
          <p:cNvPr id="26" name="Rounded Rectangle 25"/>
          <p:cNvSpPr/>
          <p:nvPr/>
        </p:nvSpPr>
        <p:spPr>
          <a:xfrm>
            <a:off x="8046719" y="370332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275319" y="393192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6</a:t>
            </a:r>
          </a:p>
        </p:txBody>
      </p:sp>
      <p:sp>
        <p:nvSpPr>
          <p:cNvPr id="28" name="TextBox 27"/>
          <p:cNvSpPr txBox="1"/>
          <p:nvPr/>
        </p:nvSpPr>
        <p:spPr>
          <a:xfrm>
            <a:off x="8915399" y="3959352"/>
            <a:ext cx="2560320" cy="457200"/>
          </a:xfrm>
          <a:prstGeom prst="rect">
            <a:avLst/>
          </a:prstGeom>
          <a:noFill/>
        </p:spPr>
        <p:txBody>
          <a:bodyPr wrap="square" lIns="0" rIns="0" tIns="0" bIns="0" anchor="ctr">
            <a:spAutoFit/>
          </a:bodyPr>
          <a:lstStyle/>
          <a:p>
            <a:pPr algn="l">
              <a:spcAft>
                <a:spcPts val="600"/>
              </a:spcAft>
            </a:pPr>
            <a:r>
              <a:rPr sz="1700" b="1" i="0">
                <a:solidFill>
                  <a:srgbClr val="1F3A5F"/>
                </a:solidFill>
                <a:latin typeface="Calibri"/>
              </a:rPr>
              <a:t>Paired bootstrap</a:t>
            </a:r>
          </a:p>
        </p:txBody>
      </p:sp>
      <p:sp>
        <p:nvSpPr>
          <p:cNvPr id="29" name="TextBox 28"/>
          <p:cNvSpPr txBox="1"/>
          <p:nvPr/>
        </p:nvSpPr>
        <p:spPr>
          <a:xfrm>
            <a:off x="8275319" y="4617720"/>
            <a:ext cx="3108960" cy="1005840"/>
          </a:xfrm>
          <a:prstGeom prst="rect">
            <a:avLst/>
          </a:prstGeom>
          <a:noFill/>
        </p:spPr>
        <p:txBody>
          <a:bodyPr wrap="square" lIns="0" rIns="0" tIns="0" bIns="0" anchor="t">
            <a:spAutoFit/>
          </a:bodyPr>
          <a:lstStyle/>
          <a:p>
            <a:pPr algn="l">
              <a:spcAft>
                <a:spcPts val="600"/>
              </a:spcAft>
            </a:pPr>
            <a:r>
              <a:rPr sz="1400" b="0" i="0">
                <a:solidFill>
                  <a:srgbClr val="1B2430"/>
                </a:solidFill>
                <a:latin typeface="Calibri"/>
              </a:rPr>
              <a:t>profiles compared on the same document draws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Limits we state openly</a:t>
            </a:r>
          </a:p>
        </p:txBody>
      </p:sp>
      <p:pic>
        <p:nvPicPr>
          <p:cNvPr id="3" name="Picture 2" descr="HuisClos logo"/>
          <p:cNvPicPr>
            <a:picLocks noChangeAspect="1"/>
          </p:cNvPicPr>
          <p:nvPr/>
        </p:nvPicPr>
        <p:blipFill>
          <a:blip r:embed="rId2"/>
          <a:stretch>
            <a:fillRect/>
          </a:stretch>
        </p:blipFill>
        <p:spPr>
          <a:xfrm>
            <a:off x="548640" y="6400800"/>
            <a:ext cx="219456" cy="219456"/>
          </a:xfrm>
          <a:prstGeom prst="rect">
            <a:avLst/>
          </a:prstGeom>
        </p:spPr>
      </p:pic>
      <p:sp>
        <p:nvSpPr>
          <p:cNvPr id="4" name="TextBox 3"/>
          <p:cNvSpPr txBox="1"/>
          <p:nvPr/>
        </p:nvSpPr>
        <p:spPr>
          <a:xfrm>
            <a:off x="841248" y="6419088"/>
            <a:ext cx="5486400" cy="228600"/>
          </a:xfrm>
          <a:prstGeom prst="rect">
            <a:avLst/>
          </a:prstGeom>
          <a:noFill/>
        </p:spPr>
        <p:txBody>
          <a:bodyPr wrap="square" lIns="0" rIns="0" tIns="0" bIns="0" anchor="t">
            <a:spAutoFit/>
          </a:bodyPr>
          <a:lstStyle/>
          <a:p>
            <a:pPr algn="l">
              <a:spcAft>
                <a:spcPts val="600"/>
              </a:spcAft>
            </a:pPr>
            <a:r>
              <a:rPr sz="1000" b="0" i="0">
                <a:solidFill>
                  <a:srgbClr val="5B6675"/>
                </a:solidFill>
                <a:latin typeface="Calibri"/>
              </a:rPr>
              <a:t>HuisClos  |  all data shown are fictitious</a:t>
            </a:r>
          </a:p>
        </p:txBody>
      </p:sp>
      <p:sp>
        <p:nvSpPr>
          <p:cNvPr id="5" name="TextBox 4"/>
          <p:cNvSpPr txBox="1"/>
          <p:nvPr/>
        </p:nvSpPr>
        <p:spPr>
          <a:xfrm>
            <a:off x="10725912" y="6419088"/>
            <a:ext cx="914400" cy="228600"/>
          </a:xfrm>
          <a:prstGeom prst="rect">
            <a:avLst/>
          </a:prstGeom>
          <a:noFill/>
        </p:spPr>
        <p:txBody>
          <a:bodyPr wrap="square" lIns="0" rIns="0" tIns="0" bIns="0" anchor="t">
            <a:spAutoFit/>
          </a:bodyPr>
          <a:lstStyle/>
          <a:p>
            <a:pPr algn="r">
              <a:spcAft>
                <a:spcPts val="600"/>
              </a:spcAft>
            </a:pPr>
            <a:r>
              <a:rPr sz="1000" b="0" i="0">
                <a:solidFill>
                  <a:srgbClr val="5B6675"/>
                </a:solidFill>
                <a:latin typeface="Calibri"/>
              </a:rPr>
              <a:t>13 / 14</a:t>
            </a:r>
          </a:p>
        </p:txBody>
      </p:sp>
      <p:sp>
        <p:nvSpPr>
          <p:cNvPr id="6" name="Rounded Rectangle 5"/>
          <p:cNvSpPr/>
          <p:nvPr/>
        </p:nvSpPr>
        <p:spPr>
          <a:xfrm>
            <a:off x="548640" y="1600200"/>
            <a:ext cx="3566160" cy="1783080"/>
          </a:xfrm>
          <a:prstGeom prst="roundRect">
            <a:avLst>
              <a:gd name="adj" fmla="val 6000"/>
            </a:avLst>
          </a:prstGeom>
          <a:solidFill>
            <a:srgbClr val="F6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83080"/>
            <a:ext cx="3108960" cy="365760"/>
          </a:xfrm>
          <a:prstGeom prst="rect">
            <a:avLst/>
          </a:prstGeom>
          <a:noFill/>
        </p:spPr>
        <p:txBody>
          <a:bodyPr wrap="square" lIns="0" rIns="0" tIns="0" bIns="0" anchor="t">
            <a:spAutoFit/>
          </a:bodyPr>
          <a:lstStyle/>
          <a:p>
            <a:pPr algn="l">
              <a:spcAft>
                <a:spcPts val="600"/>
              </a:spcAft>
            </a:pPr>
            <a:r>
              <a:rPr sz="1700" b="1" i="0">
                <a:solidFill>
                  <a:srgbClr val="9B2C2C"/>
                </a:solidFill>
                <a:latin typeface="Calibri"/>
              </a:rPr>
              <a:t>Omissions</a:t>
            </a:r>
          </a:p>
        </p:txBody>
      </p:sp>
      <p:sp>
        <p:nvSpPr>
          <p:cNvPr id="8" name="TextBox 7"/>
          <p:cNvSpPr txBox="1"/>
          <p:nvPr/>
        </p:nvSpPr>
        <p:spPr>
          <a:xfrm>
            <a:off x="777240" y="2221992"/>
            <a:ext cx="310896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values are missed, especially in English and unusual formats</a:t>
            </a:r>
          </a:p>
        </p:txBody>
      </p:sp>
      <p:sp>
        <p:nvSpPr>
          <p:cNvPr id="9" name="Rounded Rectangle 8"/>
          <p:cNvSpPr/>
          <p:nvPr/>
        </p:nvSpPr>
        <p:spPr>
          <a:xfrm>
            <a:off x="4297679" y="1600200"/>
            <a:ext cx="3566160" cy="1783080"/>
          </a:xfrm>
          <a:prstGeom prst="roundRect">
            <a:avLst>
              <a:gd name="adj" fmla="val 6000"/>
            </a:avLst>
          </a:prstGeom>
          <a:solidFill>
            <a:srgbClr val="F6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26279" y="1783080"/>
            <a:ext cx="3108960" cy="365760"/>
          </a:xfrm>
          <a:prstGeom prst="rect">
            <a:avLst/>
          </a:prstGeom>
          <a:noFill/>
        </p:spPr>
        <p:txBody>
          <a:bodyPr wrap="square" lIns="0" rIns="0" tIns="0" bIns="0" anchor="t">
            <a:spAutoFit/>
          </a:bodyPr>
          <a:lstStyle/>
          <a:p>
            <a:pPr algn="l">
              <a:spcAft>
                <a:spcPts val="600"/>
              </a:spcAft>
            </a:pPr>
            <a:r>
              <a:rPr sz="1700" b="1" i="0">
                <a:solidFill>
                  <a:srgbClr val="9B2C2C"/>
                </a:solidFill>
                <a:latin typeface="Calibri"/>
              </a:rPr>
              <a:t>Context</a:t>
            </a:r>
          </a:p>
        </p:txBody>
      </p:sp>
      <p:sp>
        <p:nvSpPr>
          <p:cNvPr id="11" name="TextBox 10"/>
          <p:cNvSpPr txBox="1"/>
          <p:nvPr/>
        </p:nvSpPr>
        <p:spPr>
          <a:xfrm>
            <a:off x="4526279" y="2221992"/>
            <a:ext cx="310896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a rare job, a small town and a date can identify a person</a:t>
            </a:r>
          </a:p>
        </p:txBody>
      </p:sp>
      <p:sp>
        <p:nvSpPr>
          <p:cNvPr id="12" name="Rounded Rectangle 11"/>
          <p:cNvSpPr/>
          <p:nvPr/>
        </p:nvSpPr>
        <p:spPr>
          <a:xfrm>
            <a:off x="8046719" y="1600200"/>
            <a:ext cx="3566160" cy="1783080"/>
          </a:xfrm>
          <a:prstGeom prst="roundRect">
            <a:avLst>
              <a:gd name="adj" fmla="val 6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75319" y="1783080"/>
            <a:ext cx="3108960" cy="365760"/>
          </a:xfrm>
          <a:prstGeom prst="rect">
            <a:avLst/>
          </a:prstGeom>
          <a:noFill/>
        </p:spPr>
        <p:txBody>
          <a:bodyPr wrap="square" lIns="0" rIns="0" tIns="0" bIns="0" anchor="t">
            <a:spAutoFit/>
          </a:bodyPr>
          <a:lstStyle/>
          <a:p>
            <a:pPr algn="l">
              <a:spcAft>
                <a:spcPts val="600"/>
              </a:spcAft>
            </a:pPr>
            <a:r>
              <a:rPr sz="1700" b="1" i="0">
                <a:solidFill>
                  <a:srgbClr val="8C5A00"/>
                </a:solidFill>
                <a:latin typeface="Calibri"/>
              </a:rPr>
              <a:t>File quality</a:t>
            </a:r>
          </a:p>
        </p:txBody>
      </p:sp>
      <p:sp>
        <p:nvSpPr>
          <p:cNvPr id="14" name="TextBox 13"/>
          <p:cNvSpPr txBox="1"/>
          <p:nvPr/>
        </p:nvSpPr>
        <p:spPr>
          <a:xfrm>
            <a:off x="8275319" y="2221992"/>
            <a:ext cx="310896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no OCR; mixed PDFs and some Word structures import partially</a:t>
            </a:r>
          </a:p>
        </p:txBody>
      </p:sp>
      <p:sp>
        <p:nvSpPr>
          <p:cNvPr id="15" name="Rounded Rectangle 14"/>
          <p:cNvSpPr/>
          <p:nvPr/>
        </p:nvSpPr>
        <p:spPr>
          <a:xfrm>
            <a:off x="548640" y="3703320"/>
            <a:ext cx="3566160" cy="1783080"/>
          </a:xfrm>
          <a:prstGeom prst="roundRect">
            <a:avLst>
              <a:gd name="adj" fmla="val 6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3886200"/>
            <a:ext cx="3108960" cy="365760"/>
          </a:xfrm>
          <a:prstGeom prst="rect">
            <a:avLst/>
          </a:prstGeom>
          <a:noFill/>
        </p:spPr>
        <p:txBody>
          <a:bodyPr wrap="square" lIns="0" rIns="0" tIns="0" bIns="0" anchor="t">
            <a:spAutoFit/>
          </a:bodyPr>
          <a:lstStyle/>
          <a:p>
            <a:pPr algn="l">
              <a:spcAft>
                <a:spcPts val="600"/>
              </a:spcAft>
            </a:pPr>
            <a:r>
              <a:rPr sz="1700" b="1" i="0">
                <a:solidFill>
                  <a:srgbClr val="8C5A00"/>
                </a:solidFill>
                <a:latin typeface="Calibri"/>
              </a:rPr>
              <a:t>Synthetic corpora</a:t>
            </a:r>
          </a:p>
        </p:txBody>
      </p:sp>
      <p:sp>
        <p:nvSpPr>
          <p:cNvPr id="17" name="TextBox 16"/>
          <p:cNvSpPr txBox="1"/>
          <p:nvPr/>
        </p:nvSpPr>
        <p:spPr>
          <a:xfrm>
            <a:off x="777240" y="4325112"/>
            <a:ext cx="310896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small, fictitious, few authors: real files may score lower</a:t>
            </a:r>
          </a:p>
        </p:txBody>
      </p:sp>
      <p:sp>
        <p:nvSpPr>
          <p:cNvPr id="18" name="Rounded Rectangle 17"/>
          <p:cNvSpPr/>
          <p:nvPr/>
        </p:nvSpPr>
        <p:spPr>
          <a:xfrm>
            <a:off x="4297679" y="3703320"/>
            <a:ext cx="3566160" cy="1783080"/>
          </a:xfrm>
          <a:prstGeom prst="roundRect">
            <a:avLst>
              <a:gd name="adj" fmla="val 6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26279" y="3886200"/>
            <a:ext cx="3108960" cy="365760"/>
          </a:xfrm>
          <a:prstGeom prst="rect">
            <a:avLst/>
          </a:prstGeom>
          <a:noFill/>
        </p:spPr>
        <p:txBody>
          <a:bodyPr wrap="square" lIns="0" rIns="0" tIns="0" bIns="0" anchor="t">
            <a:spAutoFit/>
          </a:bodyPr>
          <a:lstStyle/>
          <a:p>
            <a:pPr algn="l">
              <a:spcAft>
                <a:spcPts val="600"/>
              </a:spcAft>
            </a:pPr>
            <a:r>
              <a:rPr sz="1700" b="1" i="0">
                <a:solidFill>
                  <a:srgbClr val="8C5A00"/>
                </a:solidFill>
                <a:latin typeface="Calibri"/>
              </a:rPr>
              <a:t>The mapping table</a:t>
            </a:r>
          </a:p>
        </p:txBody>
      </p:sp>
      <p:sp>
        <p:nvSpPr>
          <p:cNvPr id="20" name="TextBox 19"/>
          <p:cNvSpPr txBox="1"/>
          <p:nvPr/>
        </p:nvSpPr>
        <p:spPr>
          <a:xfrm>
            <a:off x="4526279" y="4325112"/>
            <a:ext cx="310896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whoever holds it can re-identify the text</a:t>
            </a:r>
          </a:p>
        </p:txBody>
      </p:sp>
      <p:sp>
        <p:nvSpPr>
          <p:cNvPr id="21" name="Rounded Rectangle 20"/>
          <p:cNvSpPr/>
          <p:nvPr/>
        </p:nvSpPr>
        <p:spPr>
          <a:xfrm>
            <a:off x="8046719" y="3703320"/>
            <a:ext cx="3566160" cy="1783080"/>
          </a:xfrm>
          <a:prstGeom prst="roundRect">
            <a:avLst>
              <a:gd name="adj" fmla="val 6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75319" y="3886200"/>
            <a:ext cx="3108960" cy="365760"/>
          </a:xfrm>
          <a:prstGeom prst="rect">
            <a:avLst/>
          </a:prstGeom>
          <a:noFill/>
        </p:spPr>
        <p:txBody>
          <a:bodyPr wrap="square" lIns="0" rIns="0" tIns="0" bIns="0" anchor="t">
            <a:spAutoFit/>
          </a:bodyPr>
          <a:lstStyle/>
          <a:p>
            <a:pPr algn="l">
              <a:spcAft>
                <a:spcPts val="600"/>
              </a:spcAft>
            </a:pPr>
            <a:r>
              <a:rPr sz="1700" b="1" i="0">
                <a:solidFill>
                  <a:srgbClr val="1F3A5F"/>
                </a:solidFill>
                <a:latin typeface="Calibri"/>
              </a:rPr>
              <a:t>Token continuity</a:t>
            </a:r>
          </a:p>
        </p:txBody>
      </p:sp>
      <p:sp>
        <p:nvSpPr>
          <p:cNvPr id="23" name="TextBox 22"/>
          <p:cNvSpPr txBox="1"/>
          <p:nvPr/>
        </p:nvSpPr>
        <p:spPr>
          <a:xfrm>
            <a:off x="8275319" y="4325112"/>
            <a:ext cx="3108960" cy="1005840"/>
          </a:xfrm>
          <a:prstGeom prst="rect">
            <a:avLst/>
          </a:prstGeom>
          <a:noFill/>
        </p:spPr>
        <p:txBody>
          <a:bodyPr wrap="square" lIns="0" rIns="0" tIns="0" bIns="0" anchor="t">
            <a:spAutoFit/>
          </a:bodyPr>
          <a:lstStyle/>
          <a:p>
            <a:pPr algn="l">
              <a:spcAft>
                <a:spcPts val="600"/>
              </a:spcAft>
            </a:pPr>
            <a:r>
              <a:rPr sz="1500" b="0" i="0">
                <a:solidFill>
                  <a:srgbClr val="1B2430"/>
                </a:solidFill>
                <a:latin typeface="Calibri"/>
              </a:rPr>
              <a:t>a name also in a file name can get a new token later (D-FIX3-2)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itle"/>
          <p:cNvSpPr txBox="1"/>
          <p:nvPr/>
        </p:nvSpPr>
        <p:spPr>
          <a:xfrm>
            <a:off x="548640" y="384048"/>
            <a:ext cx="11064240" cy="731520"/>
          </a:xfrm>
          <a:prstGeom prst="rect">
            <a:avLst/>
          </a:prstGeom>
          <a:noFill/>
        </p:spPr>
        <p:txBody>
          <a:bodyPr wrap="square" lIns="0" rIns="0" tIns="0" bIns="0" anchor="t">
            <a:spAutoFit/>
          </a:bodyPr>
          <a:lstStyle/>
          <a:p>
            <a:pPr algn="l">
              <a:spcAft>
                <a:spcPts val="600"/>
              </a:spcAft>
            </a:pPr>
            <a:r>
              <a:rPr sz="3400" b="1" i="0">
                <a:solidFill>
                  <a:srgbClr val="FFFFFF"/>
                </a:solidFill>
                <a:latin typeface="Cambria"/>
              </a:rPr>
              <a:t>What is validated, and what is not</a:t>
            </a:r>
          </a:p>
        </p:txBody>
      </p:sp>
      <p:sp>
        <p:nvSpPr>
          <p:cNvPr id="3" name="Rounded Rectangle 2"/>
          <p:cNvSpPr/>
          <p:nvPr/>
        </p:nvSpPr>
        <p:spPr>
          <a:xfrm>
            <a:off x="548640" y="1463040"/>
            <a:ext cx="5394960" cy="2971800"/>
          </a:xfrm>
          <a:prstGeom prst="roundRect">
            <a:avLst>
              <a:gd name="adj" fmla="val 5000"/>
            </a:avLst>
          </a:prstGeom>
          <a:solidFill>
            <a:srgbClr val="2A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645920"/>
            <a:ext cx="4846320" cy="457200"/>
          </a:xfrm>
          <a:prstGeom prst="rect">
            <a:avLst/>
          </a:prstGeom>
          <a:noFill/>
        </p:spPr>
        <p:txBody>
          <a:bodyPr wrap="square" lIns="0" rIns="0" tIns="0" bIns="0" anchor="t">
            <a:spAutoFit/>
          </a:bodyPr>
          <a:lstStyle/>
          <a:p>
            <a:pPr algn="l">
              <a:spcAft>
                <a:spcPts val="600"/>
              </a:spcAft>
            </a:pPr>
            <a:r>
              <a:rPr sz="1900" b="1" i="0">
                <a:solidFill>
                  <a:srgbClr val="FFFFFF"/>
                </a:solidFill>
                <a:latin typeface="Calibri"/>
              </a:rPr>
              <a:t>Validated on fictitious data</a:t>
            </a:r>
          </a:p>
        </p:txBody>
      </p:sp>
      <p:sp>
        <p:nvSpPr>
          <p:cNvPr id="5" name="TextBox 4"/>
          <p:cNvSpPr txBox="1"/>
          <p:nvPr/>
        </p:nvSpPr>
        <p:spPr>
          <a:xfrm>
            <a:off x="822960" y="2240280"/>
            <a:ext cx="4846320" cy="2651760"/>
          </a:xfrm>
          <a:prstGeom prst="rect">
            <a:avLst/>
          </a:prstGeom>
          <a:noFill/>
        </p:spPr>
        <p:txBody>
          <a:bodyPr wrap="square" lIns="0" rIns="0" tIns="0" bIns="0" anchor="t">
            <a:spAutoFit/>
          </a:bodyPr>
          <a:lstStyle/>
          <a:p>
            <a:pPr algn="l" marL="201168" indent="-201168">
              <a:spcAft>
                <a:spcPts val="1000"/>
              </a:spcAft>
              <a:buFont typeface="Arial"/>
              <a:buChar char="•"/>
            </a:pPr>
            <a:r>
              <a:rPr sz="1600" b="0" i="0">
                <a:solidFill>
                  <a:srgbClr val="FFFFFF"/>
                </a:solidFill>
                <a:latin typeface="Calibri"/>
              </a:rPr>
              <a:t>French measured scope: Standard default, Enhanced as a local French option</a:t>
            </a:r>
          </a:p>
          <a:p>
            <a:pPr algn="l" marL="201168" indent="-201168">
              <a:spcAft>
                <a:spcPts val="1000"/>
              </a:spcAft>
              <a:buFont typeface="Arial"/>
              <a:buChar char="•"/>
            </a:pPr>
            <a:r>
              <a:rPr sz="1600" b="0" i="0">
                <a:solidFill>
                  <a:srgbClr val="FFFFFF"/>
                </a:solidFill>
                <a:latin typeface="Calibri"/>
              </a:rPr>
              <a:t>Technical French and English flow on offline fixtures</a:t>
            </a:r>
          </a:p>
          <a:p>
            <a:pPr algn="l" marL="201168" indent="-201168">
              <a:spcAft>
                <a:spcPts val="1000"/>
              </a:spcAft>
              <a:buFont typeface="Arial"/>
              <a:buChar char="•"/>
            </a:pPr>
            <a:r>
              <a:rPr sz="1600" b="0" i="0">
                <a:solidFill>
                  <a:srgbClr val="FFFFFF"/>
                </a:solidFill>
                <a:latin typeface="Calibri"/>
              </a:rPr>
              <a:t>Local processing, exact outgoing message, revoked consent</a:t>
            </a:r>
          </a:p>
        </p:txBody>
      </p:sp>
      <p:sp>
        <p:nvSpPr>
          <p:cNvPr id="6" name="Rounded Rectangle 5"/>
          <p:cNvSpPr/>
          <p:nvPr/>
        </p:nvSpPr>
        <p:spPr>
          <a:xfrm>
            <a:off x="6217920" y="1463040"/>
            <a:ext cx="5394960" cy="2971800"/>
          </a:xfrm>
          <a:prstGeom prst="roundRect">
            <a:avLst>
              <a:gd name="adj" fmla="val 5000"/>
            </a:avLst>
          </a:prstGeom>
          <a:solidFill>
            <a:srgbClr val="2A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92240" y="1645920"/>
            <a:ext cx="4846320" cy="457200"/>
          </a:xfrm>
          <a:prstGeom prst="rect">
            <a:avLst/>
          </a:prstGeom>
          <a:noFill/>
        </p:spPr>
        <p:txBody>
          <a:bodyPr wrap="square" lIns="0" rIns="0" tIns="0" bIns="0" anchor="t">
            <a:spAutoFit/>
          </a:bodyPr>
          <a:lstStyle/>
          <a:p>
            <a:pPr algn="l">
              <a:spcAft>
                <a:spcPts val="600"/>
              </a:spcAft>
            </a:pPr>
            <a:r>
              <a:rPr sz="1900" b="1" i="0">
                <a:solidFill>
                  <a:srgbClr val="FFFFFF"/>
                </a:solidFill>
                <a:latin typeface="Calibri"/>
              </a:rPr>
              <a:t>Still needed</a:t>
            </a:r>
          </a:p>
        </p:txBody>
      </p:sp>
      <p:sp>
        <p:nvSpPr>
          <p:cNvPr id="8" name="TextBox 7"/>
          <p:cNvSpPr txBox="1"/>
          <p:nvPr/>
        </p:nvSpPr>
        <p:spPr>
          <a:xfrm>
            <a:off x="6492240" y="2240280"/>
            <a:ext cx="4846320" cy="2651760"/>
          </a:xfrm>
          <a:prstGeom prst="rect">
            <a:avLst/>
          </a:prstGeom>
          <a:noFill/>
        </p:spPr>
        <p:txBody>
          <a:bodyPr wrap="square" lIns="0" rIns="0" tIns="0" bIns="0" anchor="t">
            <a:spAutoFit/>
          </a:bodyPr>
          <a:lstStyle/>
          <a:p>
            <a:pPr algn="l" marL="201168" indent="-201168">
              <a:spcAft>
                <a:spcPts val="1000"/>
              </a:spcAft>
              <a:buFont typeface="Arial"/>
              <a:buChar char="•"/>
            </a:pPr>
            <a:r>
              <a:rPr sz="1600" b="0" i="0">
                <a:solidFill>
                  <a:srgbClr val="FFFFFF"/>
                </a:solidFill>
                <a:latin typeface="Calibri"/>
              </a:rPr>
              <a:t>Sourced legal review: bar guidance, European guidelines, case law</a:t>
            </a:r>
          </a:p>
          <a:p>
            <a:pPr algn="l" marL="201168" indent="-201168">
              <a:spcAft>
                <a:spcPts val="1000"/>
              </a:spcAft>
              <a:buFont typeface="Arial"/>
              <a:buChar char="•"/>
            </a:pPr>
            <a:r>
              <a:rPr sz="1600" b="0" i="0">
                <a:solidFill>
                  <a:srgbClr val="FFFFFF"/>
                </a:solidFill>
                <a:latin typeface="Calibri"/>
              </a:rPr>
              <a:t>Timed study with real users on realistic, non-sensitive files</a:t>
            </a:r>
          </a:p>
          <a:p>
            <a:pPr algn="l" marL="201168" indent="-201168">
              <a:spcAft>
                <a:spcPts val="1000"/>
              </a:spcAft>
              <a:buFont typeface="Arial"/>
              <a:buChar char="•"/>
            </a:pPr>
            <a:r>
              <a:rPr sz="1600" b="0" i="0">
                <a:solidFill>
                  <a:srgbClr val="FFFFFF"/>
                </a:solidFill>
                <a:latin typeface="Calibri"/>
              </a:rPr>
              <a:t>A new blind English set before any English claim; OCR</a:t>
            </a:r>
          </a:p>
        </p:txBody>
      </p:sp>
      <p:sp>
        <p:nvSpPr>
          <p:cNvPr id="9" name="TextBox 8"/>
          <p:cNvSpPr txBox="1"/>
          <p:nvPr/>
        </p:nvSpPr>
        <p:spPr>
          <a:xfrm>
            <a:off x="548640" y="4937760"/>
            <a:ext cx="11064240" cy="457200"/>
          </a:xfrm>
          <a:prstGeom prst="rect">
            <a:avLst/>
          </a:prstGeom>
          <a:noFill/>
        </p:spPr>
        <p:txBody>
          <a:bodyPr wrap="square" lIns="0" rIns="0" tIns="0" bIns="0" anchor="t">
            <a:spAutoFit/>
          </a:bodyPr>
          <a:lstStyle/>
          <a:p>
            <a:pPr algn="l">
              <a:spcAft>
                <a:spcPts val="600"/>
              </a:spcAft>
            </a:pPr>
            <a:r>
              <a:rPr sz="2000" b="1" i="0">
                <a:solidFill>
                  <a:srgbClr val="FFFFFF"/>
                </a:solidFill>
                <a:latin typeface="Cambria"/>
              </a:rPr>
              <a:t>Pseudonymisation is not anonymisation. Review every detection.</a:t>
            </a:r>
          </a:p>
        </p:txBody>
      </p:sp>
      <p:sp>
        <p:nvSpPr>
          <p:cNvPr id="10" name="TextBox 9"/>
          <p:cNvSpPr txBox="1"/>
          <p:nvPr/>
        </p:nvSpPr>
        <p:spPr>
          <a:xfrm>
            <a:off x="548640" y="5623560"/>
            <a:ext cx="11064240" cy="365760"/>
          </a:xfrm>
          <a:prstGeom prst="rect">
            <a:avLst/>
          </a:prstGeom>
          <a:noFill/>
        </p:spPr>
        <p:txBody>
          <a:bodyPr wrap="square" lIns="0" rIns="0" tIns="0" bIns="0" anchor="t">
            <a:spAutoFit/>
          </a:bodyPr>
          <a:lstStyle/>
          <a:p>
            <a:pPr algn="l">
              <a:spcAft>
                <a:spcPts val="600"/>
              </a:spcAft>
            </a:pPr>
            <a:r>
              <a:rPr sz="1300" b="0" i="0">
                <a:solidFill>
                  <a:srgbClr val="B9C7D8"/>
                </a:solidFill>
                <a:latin typeface="Calibri"/>
              </a:rPr>
              <a:t>Demo, fictitious data only: huisclos.streamlit.app  |  Code: github.com/Negan-san/huisclos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HuisClos</dc:title>
  <dc:subject>Local pseudonymisation of legal documents before an AI tool</dc:subject>
  <dc:creator>HuisClos project group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